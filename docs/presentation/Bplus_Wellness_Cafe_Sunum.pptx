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4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DF8"/>
                </a:solidFill>
                <a:latin typeface="Georgia"/>
              </a:defRPr>
            </a:pPr>
            <a:r>
              <a:t>B+ WELLNESS CAFÉ</a:t>
            </a:r>
          </a:p>
          <a:p>
            <a:pPr algn="ctr">
              <a:spcBef>
                <a:spcPts val="1200"/>
              </a:spcBef>
              <a:defRPr sz="2400">
                <a:solidFill>
                  <a:srgbClr val="E2E7DC"/>
                </a:solidFill>
                <a:latin typeface="Georgia"/>
              </a:defRPr>
            </a:pPr>
            <a:r>
              <a:t>Şehrin Yoğunluğunda Dengeli Bir Mola</a:t>
            </a:r>
          </a:p>
          <a:p>
            <a:pPr algn="ctr">
              <a:spcBef>
                <a:spcPts val="800"/>
              </a:spcBef>
              <a:defRPr sz="1500">
                <a:solidFill>
                  <a:srgbClr val="C0CBBA"/>
                </a:solidFill>
                <a:latin typeface="Arial"/>
              </a:defRPr>
            </a:pPr>
            <a:r>
              <a:t>İyi hissettiren kahve, sakin alan ve kişisel içecek deneyimi.</a:t>
            </a:r>
          </a:p>
          <a:p>
            <a:pPr algn="ctr">
              <a:spcBef>
                <a:spcPts val="2800"/>
              </a:spcBef>
              <a:defRPr sz="1200" b="1">
                <a:solidFill>
                  <a:srgbClr val="DFA882"/>
                </a:solidFill>
                <a:latin typeface="Arial"/>
              </a:defRPr>
            </a:pPr>
            <a:r>
              <a:t>[ KONSEPT &amp; PROTOTİP ÇALIŞMASI — DEMO VİTRİNİ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Arial"/>
              </a:defRPr>
            </a:pPr>
            <a:r>
              <a:t>HIKAYE VE ÇIKIŞ NOKTASI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4422D"/>
                </a:solidFill>
                <a:latin typeface="Georgia"/>
              </a:defRPr>
            </a:pPr>
            <a:r>
              <a:t>Neden B+ Wellness Café?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4422D"/>
                </a:solidFill>
                <a:latin typeface="Georgia"/>
              </a:defRPr>
            </a:pPr>
            <a:r>
              <a:t>Şehir Hayatının Getirdiği Problem</a:t>
            </a:r>
          </a:p>
          <a:p>
            <a:pPr>
              <a:spcBef>
                <a:spcPts val="1000"/>
              </a:spcBef>
              <a:defRPr sz="1300">
                <a:solidFill>
                  <a:srgbClr val="2A3324"/>
                </a:solidFill>
                <a:latin typeface="Arial"/>
              </a:defRPr>
            </a:pPr>
            <a:r>
              <a:t>• Metropol temposunda insanlar sürekli oradan oraya koşturuyor.</a:t>
            </a:r>
          </a:p>
          <a:p>
            <a:pPr>
              <a:spcBef>
                <a:spcPts val="1000"/>
              </a:spcBef>
              <a:defRPr sz="1300">
                <a:solidFill>
                  <a:srgbClr val="2A3324"/>
                </a:solidFill>
                <a:latin typeface="Arial"/>
              </a:defRPr>
            </a:pPr>
            <a:r>
              <a:t>• Mevcut kahve zincirleri gürültülü, kalabalık ve aceleye dayalı.</a:t>
            </a:r>
          </a:p>
          <a:p>
            <a:pPr>
              <a:spcBef>
                <a:spcPts val="1000"/>
              </a:spcBef>
              <a:defRPr sz="1300">
                <a:solidFill>
                  <a:srgbClr val="2A3324"/>
                </a:solidFill>
                <a:latin typeface="Arial"/>
              </a:defRPr>
            </a:pPr>
            <a:r>
              <a:t>• Sert ve hızlı tüketilen kafein, insanları dinlendirmek yerine daha çok yoruyor.</a:t>
            </a:r>
          </a:p>
          <a:p>
            <a:pPr>
              <a:spcBef>
                <a:spcPts val="1000"/>
              </a:spcBef>
              <a:defRPr sz="1300">
                <a:solidFill>
                  <a:srgbClr val="2A3324"/>
                </a:solidFill>
                <a:latin typeface="Arial"/>
              </a:defRPr>
            </a:pPr>
            <a:r>
              <a:t>• İnsanlar sadece kafein değil, gün ortasında nefes alacakları sakin bir sığınak arıyor.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4422D"/>
                </a:solidFill>
                <a:latin typeface="Georgia"/>
              </a:defRPr>
            </a:pPr>
            <a:r>
              <a:t>Bizim Çözümümüz: Günün 3 Anı</a:t>
            </a:r>
          </a:p>
          <a:p>
            <a:pPr>
              <a:spcBef>
                <a:spcPts val="1400"/>
              </a:spcBef>
              <a:defRPr sz="1400" b="1">
                <a:solidFill>
                  <a:srgbClr val="A0522D"/>
                </a:solidFill>
                <a:latin typeface="Arial"/>
              </a:defRPr>
            </a:pPr>
            <a:r>
              <a:t>🌿 08:00 Zinde Başlangıç</a:t>
            </a:r>
          </a:p>
          <a:p>
            <a:pPr>
              <a:spcBef>
                <a:spcPts val="2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Güne temiz ve taze bir uyanışla başlama ritüeli.</a:t>
            </a:r>
          </a:p>
          <a:p>
            <a:pPr>
              <a:spcBef>
                <a:spcPts val="1400"/>
              </a:spcBef>
              <a:defRPr sz="1400" b="1">
                <a:solidFill>
                  <a:srgbClr val="A0522D"/>
                </a:solidFill>
                <a:latin typeface="Arial"/>
              </a:defRPr>
            </a:pPr>
            <a:r>
              <a:t>🌿 12:30 Sakin Mola</a:t>
            </a:r>
          </a:p>
          <a:p>
            <a:pPr>
              <a:spcBef>
                <a:spcPts val="2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Öğle koşturmacasında zihni dinlendiren bitkisel ve dengeli tatlar.</a:t>
            </a:r>
          </a:p>
          <a:p>
            <a:pPr>
              <a:spcBef>
                <a:spcPts val="1400"/>
              </a:spcBef>
              <a:defRPr sz="1400" b="1">
                <a:solidFill>
                  <a:srgbClr val="A0522D"/>
                </a:solidFill>
                <a:latin typeface="Arial"/>
              </a:defRPr>
            </a:pPr>
            <a:r>
              <a:t>🌿 15:00 Odak ve Hafiflik</a:t>
            </a:r>
          </a:p>
          <a:p>
            <a:pPr>
              <a:spcBef>
                <a:spcPts val="2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Öğleden sonra düşen enerjiyi sarsmadan toparlayan matcha ve soğuk demlemeler.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Arial"/>
              </a:defRPr>
            </a:pPr>
            <a:r>
              <a:t>MARKA KIMLIĞI &amp; GÖRSEL DIL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4422D"/>
                </a:solidFill>
                <a:latin typeface="Georgia"/>
              </a:defRPr>
            </a:pPr>
            <a:r>
              <a:t>Konsepti Tasarımlara Nasıl Yansıttık?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34422D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FFFDF8"/>
                </a:solidFill>
                <a:latin typeface="Georgia"/>
              </a:defRPr>
            </a:pPr>
            <a:r>
              <a:t>Adaçayı Yeşili</a:t>
            </a:r>
          </a:p>
          <a:p>
            <a:pPr>
              <a:spcBef>
                <a:spcPts val="200"/>
              </a:spcBef>
              <a:defRPr sz="1100">
                <a:solidFill>
                  <a:srgbClr val="FFFDF8"/>
                </a:solidFill>
                <a:latin typeface="Arial"/>
              </a:defRPr>
            </a:pPr>
            <a:r>
              <a:t>#34422D</a:t>
            </a:r>
          </a:p>
          <a:p>
            <a:pPr>
              <a:spcBef>
                <a:spcPts val="800"/>
              </a:spcBef>
              <a:defRPr sz="1100">
                <a:solidFill>
                  <a:srgbClr val="FFFDF8"/>
                </a:solidFill>
                <a:latin typeface="Arial"/>
              </a:defRPr>
            </a:pPr>
            <a:r>
              <a:t>Doğallık, dinginlik ve ferahlık. Mekanın içindeki canlı bitkileri ve zihinsel sakinliği simgeler.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0EEE4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34422D"/>
                </a:solidFill>
                <a:latin typeface="Georgia"/>
              </a:defRPr>
            </a:pPr>
            <a:r>
              <a:t>Sıcak Krem</a:t>
            </a:r>
          </a:p>
          <a:p>
            <a:pPr>
              <a:spcBef>
                <a:spcPts val="200"/>
              </a:spcBef>
              <a:defRPr sz="1100">
                <a:solidFill>
                  <a:srgbClr val="34422D"/>
                </a:solidFill>
                <a:latin typeface="Arial"/>
              </a:defRPr>
            </a:pPr>
            <a:r>
              <a:t>#FFFDF8</a:t>
            </a:r>
          </a:p>
          <a:p>
            <a:pPr>
              <a:spcBef>
                <a:spcPts val="800"/>
              </a:spcBef>
              <a:defRPr sz="1100">
                <a:solidFill>
                  <a:srgbClr val="34422D"/>
                </a:solidFill>
                <a:latin typeface="Arial"/>
              </a:defRPr>
            </a:pPr>
            <a:r>
              <a:t>Gözü yormayan sıcak, samimi zemin. Doğal kağıt ve sıcak sabah güneşinin yumuşak dokusu.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A0522D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FFFDF8"/>
                </a:solidFill>
                <a:latin typeface="Georgia"/>
              </a:defRPr>
            </a:pPr>
            <a:r>
              <a:t>Terracotta</a:t>
            </a:r>
          </a:p>
          <a:p>
            <a:pPr>
              <a:spcBef>
                <a:spcPts val="200"/>
              </a:spcBef>
              <a:defRPr sz="1100">
                <a:solidFill>
                  <a:srgbClr val="FFFDF8"/>
                </a:solidFill>
                <a:latin typeface="Arial"/>
              </a:defRPr>
            </a:pPr>
            <a:r>
              <a:t>#A0522D</a:t>
            </a:r>
          </a:p>
          <a:p>
            <a:pPr>
              <a:spcBef>
                <a:spcPts val="800"/>
              </a:spcBef>
              <a:defRPr sz="1100">
                <a:solidFill>
                  <a:srgbClr val="FFFDF8"/>
                </a:solidFill>
                <a:latin typeface="Arial"/>
              </a:defRPr>
            </a:pPr>
            <a:r>
              <a:t>Kahve çekirdeğinin, toprağın ve pişmiş seramiğin sıcaklığı. İnsani ve samimi vurgu rengimiz.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800" b="1">
                <a:solidFill>
                  <a:srgbClr val="34422D"/>
                </a:solidFill>
                <a:latin typeface="Georgia"/>
              </a:defRPr>
            </a:pPr>
            <a:r>
              <a:t>Tipografi &amp; Fotoğrafçılık İlkeleri</a:t>
            </a:r>
          </a:p>
          <a:p>
            <a:pPr>
              <a:spcBef>
                <a:spcPts val="8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• Yazı Karakterleri (Tipografi): Klasik dergi ve gazete zarafetini taşıyan Serif başlıklar ile modern, net ve son derece okunaklı Sans-serif gövde yazıları buluşturuldu.</a:t>
            </a:r>
          </a:p>
          <a:p>
            <a:pPr>
              <a:spcBef>
                <a:spcPts val="6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• Fotoğraf Hissi: Abartılı yapay filtreler veya parlatılmış reklam fotoğrafları yerine; doğal sabah ışığı, seramik fincanlar ve gerçek kafe anlarını yansıtan sade bir görsel dil kuruldu.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Arial"/>
              </a:defRPr>
            </a:pPr>
            <a:r>
              <a:t>İÇERIK &amp; VITRIN ÜRETIMI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4422D"/>
                </a:solidFill>
                <a:latin typeface="Georgia"/>
              </a:defRPr>
            </a:pPr>
            <a:r>
              <a:t>Sosyal Medya Paketi: Neler Ürettik?</a:t>
            </a:r>
          </a:p>
        </p:txBody>
      </p:sp>
      <p:pic>
        <p:nvPicPr>
          <p:cNvPr id="5" name="Picture 4" descr="grid-6-post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6576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63440" y="1645920"/>
            <a:ext cx="6766560" cy="457200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4422D"/>
                </a:solidFill>
                <a:latin typeface="Georgia"/>
              </a:defRPr>
            </a:pPr>
            <a:r>
              <a:t>Kullanıma Hazır 4 Temel Bileşen</a:t>
            </a:r>
          </a:p>
          <a:p>
            <a:pPr>
              <a:spcBef>
                <a:spcPts val="10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1. 6'lı Instagram Grid (Post Paketi)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1080x1350 px yüksek çözünürlükte, profilde yan yana geldiğinde kusursuz bir dergi vitrini oluşturan 6 temel gönderi.</a:t>
            </a:r>
          </a:p>
          <a:p>
            <a:pPr>
              <a:spcBef>
                <a:spcPts val="10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2. 3 Adet Hikaye (Story Serisi)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08:00, 12:30 ve 15:00 anlarına özel etkileşimli, dikey ekran formatında (1080x1920 px) hikaye tasarımları.</a:t>
            </a:r>
          </a:p>
          <a:p>
            <a:pPr>
              <a:spcBef>
                <a:spcPts val="10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3. 28 Saniyelik Reels Tanıtım Videosu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Günün akışını ve kafe sakinliğini hissettiren, storyboard'u planlanmış sinematik geçişli MP4 video prototipi.</a:t>
            </a:r>
          </a:p>
          <a:p>
            <a:pPr>
              <a:spcBef>
                <a:spcPts val="10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4. 14 Günlük İçerik Takvimi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Her gün için hangi saatte, hangi görselin, hangi metin ve etiketlerle paylaşılacağını adım adım gösteren yayın rehberi.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Arial"/>
              </a:defRPr>
            </a:pPr>
            <a:r>
              <a:t>KULLANICI DENEYIMI &amp; WEB SITESI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4422D"/>
                </a:solidFill>
                <a:latin typeface="Georgia"/>
              </a:defRPr>
            </a:pPr>
            <a:r>
              <a:t>Web Sitesi Demosu: Ziyaretçi Ne Görüyor?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34422D"/>
                </a:solidFill>
                <a:latin typeface="Georgia"/>
              </a:defRPr>
            </a:pPr>
            <a:r>
              <a:t>🌱  Tek Sayfa Huzurlu Gezinti</a:t>
            </a:r>
          </a:p>
          <a:p>
            <a:pPr>
              <a:spcBef>
                <a:spcPts val="6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Karışık alt sayfalar ve menüler yok. Ziyaretçi sayfayı kaydırdıkça kafenin ruhunu, mekanını ve değerlerini adım adım keşfeder.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19456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34422D"/>
                </a:solidFill>
                <a:latin typeface="Georgia"/>
              </a:defRPr>
            </a:pPr>
            <a:r>
              <a:t>⏱️  İnteraktif Saat Seçici</a:t>
            </a:r>
          </a:p>
          <a:p>
            <a:pPr>
              <a:spcBef>
                <a:spcPts val="6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Sayfanın başındaki '08:00', '12:30' veya '15:00' butonlarına tıklandığında, ekrandaki önerilen içecekler ve atmosfer anında o saate göre değişir.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34422D"/>
                </a:solidFill>
                <a:latin typeface="Georgia"/>
              </a:defRPr>
            </a:pPr>
            <a:r>
              <a:t>☕  Akıllı Dijital Menü</a:t>
            </a:r>
          </a:p>
          <a:p>
            <a:pPr>
              <a:spcBef>
                <a:spcPts val="6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Misafirlerin aradığını kolayca bulması için Kahve, Bitkisel Alternatifler ve Matcha filtreleri eklendi. Sade ve net sunum.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212080" cy="219456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34422D"/>
                </a:solidFill>
                <a:latin typeface="Georgia"/>
              </a:defRPr>
            </a:pPr>
            <a:r>
              <a:t>📱  Mobil Uyumlu Canlı Demo</a:t>
            </a:r>
          </a:p>
          <a:p>
            <a:pPr>
              <a:spcBef>
                <a:spcPts val="600"/>
              </a:spcBef>
              <a:defRPr sz="1200">
                <a:solidFill>
                  <a:srgbClr val="2A3324"/>
                </a:solidFill>
                <a:latin typeface="Arial"/>
              </a:defRPr>
            </a:pPr>
            <a:r>
              <a:t>Bilgisayarda, tablette ve cep telefonunda aynı zarafetle çalışan modern web arayüzü (localhost:3000 üzerinden canlı test edilebilir).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Arial"/>
              </a:defRPr>
            </a:pPr>
            <a:r>
              <a:t>KIŞISELLEŞTIRILMIŞ İÇECEK DENEYIMI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4422D"/>
                </a:solidFill>
                <a:latin typeface="Georgia"/>
              </a:defRPr>
            </a:pPr>
            <a:r>
              <a:t>B+ AI Barista: Dijital İçecek Danışmanı</a:t>
            </a:r>
          </a:p>
        </p:txBody>
      </p:sp>
      <p:pic>
        <p:nvPicPr>
          <p:cNvPr id="5" name="Picture 4" descr="post-06-ai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6576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63440" y="1645920"/>
            <a:ext cx="6766560" cy="457200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4422D"/>
                </a:solidFill>
                <a:latin typeface="Georgia"/>
              </a:defRPr>
            </a:pPr>
            <a:r>
              <a:t>Nasıl Çalışır &amp; Ne İşe Yarar?</a:t>
            </a:r>
          </a:p>
          <a:p>
            <a:pPr>
              <a:spcBef>
                <a:spcPts val="8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1. Kullanıcıyı Dinler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'Şu an nasıl hissediyorsun?' ve 'Günün hangi anındasın?' gibi iki çok sade soruyla misafirin ihtiyacını anlar.</a:t>
            </a:r>
          </a:p>
          <a:p>
            <a:pPr>
              <a:spcBef>
                <a:spcPts val="8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2. Damak Zevkini Öğrenir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Hafif içim mi, yoğun kahve lezzeti mi yoksa ferahlatıcı bitkisel bir tat mı istediğini öğrenir.</a:t>
            </a:r>
          </a:p>
          <a:p>
            <a:pPr>
              <a:spcBef>
                <a:spcPts val="8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3. Eşleşme Oranıyla Önerir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Saniyeler içinde en uygun içeceği seçer; örneğin '%94 Uyum [DEMO]' etiketiyle içeceğin neden iyi geleceğini açıklar.</a:t>
            </a:r>
          </a:p>
          <a:p>
            <a:pPr>
              <a:spcBef>
                <a:spcPts val="800"/>
              </a:spcBef>
              <a:defRPr sz="1300" b="1">
                <a:solidFill>
                  <a:srgbClr val="A0522D"/>
                </a:solidFill>
                <a:latin typeface="Arial"/>
              </a:defRPr>
            </a:pPr>
            <a:r>
              <a:t>4. Güvenli &amp; Sorumlu Yapay Zeka</a:t>
            </a:r>
          </a:p>
          <a:p>
            <a:pPr>
              <a:spcBef>
                <a:spcPts val="2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Asla reçete veya tıbbi sağlık vaadi vermez; yalnızca kafe menüsü içinden lezzet ve enerji rehberliği yapar.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Arial"/>
              </a:defRPr>
            </a:pPr>
            <a:r>
              <a:t>MUTFAKTA NELER VAR?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4422D"/>
                </a:solidFill>
                <a:latin typeface="Georgia"/>
              </a:defRPr>
            </a:pPr>
            <a:r>
              <a:t>Kullanılan Araçlar &amp; Kendi Geliştirdiklerimiz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34422D"/>
                </a:solidFill>
                <a:latin typeface="Georgia"/>
              </a:defRPr>
            </a:pPr>
            <a:r>
              <a:t>Kullandığımız Araçlar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Modern Web Teknolojileri (Next.js &amp; Tailwind)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Python Görsel Üretim &amp; Düzenleme Motoru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OpenCV Sinematik Video İşlemcisi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Tasarım Kontrol ve Renk Kontrastı Ölçüm Kodları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34422D"/>
                </a:solidFill>
                <a:latin typeface="Georgia"/>
              </a:defRPr>
            </a:pPr>
            <a:r>
              <a:t>Kendi Geliştirdiğimiz Kısımlar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Tüm marka kimliği, renk uyumları ve metin dili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6'lı Instagram vitrini ve story tasarımları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28 saniyelik video akışı ve sahne geçişleri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Web sitesinin interaktif saat ve filtre yazılımları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AI Barista'nın soru-cevap ve öneri algoritması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34422D"/>
                </a:solidFill>
                <a:latin typeface="Georgia"/>
              </a:defRPr>
            </a:pPr>
            <a:r>
              <a:t>Şu An Simüle Edilen Kısımlar (Demo)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Fiziksel açık şube ve gerçek masa siparişleri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Kasadaki ödeme cihazı (POS) entegrasyonu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Sosyal medyadaki takipçi/etkileşim sayıları</a:t>
            </a:r>
          </a:p>
          <a:p>
            <a:pPr>
              <a:spcBef>
                <a:spcPts val="8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• (Her şey açıkça DEMO etiketiyle şeffaf tutuldu)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Arial"/>
              </a:defRPr>
            </a:pPr>
            <a:r>
              <a:t>SONRAKI ADIMLAR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4422D"/>
                </a:solidFill>
                <a:latin typeface="Georgia"/>
              </a:defRPr>
            </a:pPr>
            <a:r>
              <a:t>Gerçek Kullanıma Geçişte Neler Tamamlanmalı?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600" b="1">
                <a:solidFill>
                  <a:srgbClr val="34422D"/>
                </a:solidFill>
                <a:latin typeface="Georgia"/>
              </a:defRPr>
            </a:pPr>
            <a:r>
              <a:t>📍  1. Gerçek Lokasyon ve POS Entegrasyonu</a:t>
            </a:r>
          </a:p>
          <a:p>
            <a:pPr>
              <a:spcBef>
                <a:spcPts val="3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Fiziksel kafe açıldığında gerçek adres bilgileri ve kasadaki ödeme/sipariş sistemi yazılıma bağlanacak.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600" b="1">
                <a:solidFill>
                  <a:srgbClr val="34422D"/>
                </a:solidFill>
                <a:latin typeface="Georgia"/>
              </a:defRPr>
            </a:pPr>
            <a:r>
              <a:t>💳  2. Mobil Sadakat Sistemi (Sadakat Kartı)</a:t>
            </a:r>
          </a:p>
          <a:p>
            <a:pPr>
              <a:spcBef>
                <a:spcPts val="3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Müşterilerin kahve aldıkça yıldız/puan kazanacağı ve kişisel indirimler alacağı dijital cüzdan eklenecek.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600" b="1">
                <a:solidFill>
                  <a:srgbClr val="34422D"/>
                </a:solidFill>
                <a:latin typeface="Georgia"/>
              </a:defRPr>
            </a:pPr>
            <a:r>
              <a:t>☕  3. Masadan ve Gel-Al Sipariş Sistemi</a:t>
            </a:r>
          </a:p>
          <a:p>
            <a:pPr>
              <a:spcBef>
                <a:spcPts val="3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Masadaki QR kodu okutarak veya yoldayken gel-al siparişi verebilecek canlı sipariş altyapısı kurulacak.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4F6F0"/>
          </a:solidFill>
          <a:ln>
            <a:solidFill>
              <a:srgbClr val="E2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600" b="1">
                <a:solidFill>
                  <a:srgbClr val="34422D"/>
                </a:solidFill>
                <a:latin typeface="Georgia"/>
              </a:defRPr>
            </a:pPr>
            <a:r>
              <a:t>📸  4. Fiziksel Fotoğraf &amp; İçerik Güncellemesi</a:t>
            </a:r>
          </a:p>
          <a:p>
            <a:pPr>
              <a:spcBef>
                <a:spcPts val="300"/>
              </a:spcBef>
              <a:defRPr sz="1100">
                <a:solidFill>
                  <a:srgbClr val="2A3324"/>
                </a:solidFill>
                <a:latin typeface="Arial"/>
              </a:defRPr>
            </a:pPr>
            <a:r>
              <a:t>Açılan gerçek şubenin mimarisi, gerçek baristaları ve canlı ürünleriyle fotoğraf arşivi zenginleştirilecek.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