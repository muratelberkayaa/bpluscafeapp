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Merhaba. Bugün sizlere B+ Wellness Café için hazırladığımız dijital deneyim çalışmasını aktaracağım. Amacımız sadece kağıt üzerinde güzel görünen fikirler sunmak değil; yarın sabah kafemizi açtığımızda müşterimizin telefonunda gerçekten göreceği, dokunabileceği ve deneyimleyebileceği hazır bir sistemi göstermek. Sosyal medyamız, internet sitemiz ve yapay zekâ asistanımız birbiriyle aynı dili konuşuyor: “İş gününe iyi bir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Hedef kitlemiz plazalarda, ofislerde veya hibrit çalışan beyaz yakalılar. Bu insanların vakti az, zihni dolu. Tasarımı üç doğal zaman dilimi üzerine kurduk: 08:00, 12:30 ve 15:00. Böylece sosyal medya, web ve AI deneyimi aynı günlük ritmi takip ediyor.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bir hastane ya da diyetisyen markası değil; şehirli, zevk sahibi bir üçüncü dalga kafe. Bu yüzden renkleri doğadan aldık: koyu zeytin, sıcak krem ve adaçayı. Yazı dili ise kısa, net ve kendinden emin. Amaç ekranda karmaşa değil, nefes alan bir mola hissi yaratmak.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Sosyal medyada tek tek rastgele görseller paylaşmak yerine profilin tamamını bir mağaza vitrini gibi kurguladık. 6 post aynı renk ritmi içinde çalışıyor. Ayrıca sadece statik görseller bırakmadık: 3 Story ve 28 saniyelik dikey Reels prototipi de üretildi.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İnternet sitemiz sadece bir resim veya PDF broşür değil; kategori filtreleri çalışan, mobil uyumlu bir web deneyimi. B+ Moments ile günün saatlerine göre yönlendirme yapıyor. Demo ön sipariş akışı var ama gerçek ödeme alınmıyor; bu sınır açıkça belirtiliyor.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Yapay zekâyı karmaşık bir chatbot gibi değil, menü kararını kolaylaştıran bir katman gibi ele aldık. Çalışan demo, gerçek bir üretim AI servisi değildir; tercihleri prototip katalogla eşleştiren bir simülasyondur. Gelecek fazda doğrulanmış menü bilgi tabanı ve canlı model entegrasyonu eklenebilir.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projede en çok önem verdiğim konu dürüstlük ve şeffaflık oldu. Web sitemiz, görsellerimiz ve video prototipimiz gerçekten çalışıyor. Ancak gerçek ödeme, gerçek Instagram yayını, final menü verileri ve production AI entegrasyonu henüz yapılmış gibi gösterilmiyor.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Özetle; B+ Wellness Café için yalnızca bir fikir değil, görünür ve denenebilir bir dijital sistem hazırladık. Canlıya geçişte ilk ihtiyaç teknoloji değil, doğrulanmış veri. Menü, fiyat, adres ve saatler kesinleştiğinde sistem hızla üretim ortamına taşınabilir.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DF8"/>
        </a:solidFill>
      </p:bgPr>
    </p:bg>
    <p:spTree>
      <p:nvGrpSpPr>
        <p:cNvPr id="1" name=""/>
        <p:cNvGrpSpPr/>
        <p:nvPr/>
      </p:nvGrpSpPr>
      <p:grpSpPr>
        <a:xfrm>
          <a:off x="0" y="0"/>
          <a:ext cx="0" cy="0"/>
          <a:chOff x="0" y="0"/>
          <a:chExt cx="0" cy="0"/>
        </a:xfrm>
      </p:grpSpPr>
      <p:sp>
        <p:nvSpPr>
          <p:cNvPr id="2" name="Text 0"/>
          <p:cNvSpPr/>
          <p:nvPr/>
        </p:nvSpPr>
        <p:spPr>
          <a:xfrm>
            <a:off x="502920" y="219456"/>
            <a:ext cx="7680960" cy="201168"/>
          </a:xfrm>
          <a:prstGeom prst="rect">
            <a:avLst/>
          </a:prstGeom>
          <a:noFill/>
          <a:ln/>
        </p:spPr>
        <p:txBody>
          <a:bodyPr wrap="square" lIns="0" tIns="0" rIns="0" bIns="0" rtlCol="0" anchor="ctr"/>
          <a:lstStyle/>
          <a:p>
            <a:pPr indent="0" marL="0">
              <a:buNone/>
            </a:pPr>
            <a:r>
              <a:rPr lang="en-US" sz="840" b="1" spc="130" kern="0" dirty="0">
                <a:solidFill>
                  <a:srgbClr val="68734B"/>
                </a:solidFill>
                <a:latin typeface="Inter" pitchFamily="34" charset="0"/>
                <a:ea typeface="Inter" pitchFamily="34" charset="-122"/>
                <a:cs typeface="Inter" pitchFamily="34" charset="-120"/>
              </a:rPr>
              <a:t>B+ WELLNESS CAFÉ  /  DİJİTAL DENEYİM ÖRNEK ÇALIŞMASI</a:t>
            </a:r>
            <a:endParaRPr lang="en-US" sz="840" dirty="0"/>
          </a:p>
        </p:txBody>
      </p:sp>
      <p:sp>
        <p:nvSpPr>
          <p:cNvPr id="3" name="Shape 1"/>
          <p:cNvSpPr/>
          <p:nvPr/>
        </p:nvSpPr>
        <p:spPr>
          <a:xfrm>
            <a:off x="502920" y="6519672"/>
            <a:ext cx="11109960" cy="0"/>
          </a:xfrm>
          <a:prstGeom prst="line">
            <a:avLst/>
          </a:prstGeom>
          <a:noFill/>
          <a:ln w="12700">
            <a:solidFill>
              <a:srgbClr val="E3DEC3"/>
            </a:solidFill>
            <a:prstDash val="solid"/>
          </a:ln>
        </p:spPr>
      </p:sp>
      <p:sp>
        <p:nvSpPr>
          <p:cNvPr id="4" name="Text 2"/>
          <p:cNvSpPr/>
          <p:nvPr/>
        </p:nvSpPr>
        <p:spPr>
          <a:xfrm>
            <a:off x="9985248" y="6565392"/>
            <a:ext cx="1417320" cy="164592"/>
          </a:xfrm>
          <a:prstGeom prst="rect">
            <a:avLst/>
          </a:prstGeom>
          <a:noFill/>
          <a:ln/>
        </p:spPr>
        <p:txBody>
          <a:bodyPr wrap="square" lIns="0" tIns="0" rIns="0" bIns="0" rtlCol="0" anchor="ctr"/>
          <a:lstStyle/>
          <a:p>
            <a:pPr algn="r" indent="0" marL="0">
              <a:buNone/>
            </a:pPr>
            <a:r>
              <a:rPr lang="en-US" sz="750" b="1" dirty="0">
                <a:solidFill>
                  <a:srgbClr val="8D8A80"/>
                </a:solidFill>
                <a:latin typeface="Inter" pitchFamily="34" charset="0"/>
                <a:ea typeface="Inter" pitchFamily="34" charset="-122"/>
                <a:cs typeface="Inter" pitchFamily="34" charset="-120"/>
              </a:rPr>
              <a:t>DEMO / CASE STUDY</a:t>
            </a:r>
            <a:endParaRPr lang="en-US" sz="7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8D8A80"/>
                </a:solidFill>
                <a:latin typeface="Inter"/>
                <a:ea typeface="Inter"/>
                <a:cs typeface="Inter"/>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8D8A80"/>
                </a:solidFill>
                <a:latin typeface="Inter"/>
                <a:ea typeface="Inter"/>
                <a:cs typeface="Inter"/>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0E6"/>
        </a:solidFill>
      </p:bgPr>
    </p:bg>
    <p:spTree>
      <p:nvGrpSpPr>
        <p:cNvPr id="1" name=""/>
        <p:cNvGrpSpPr/>
        <p:nvPr/>
      </p:nvGrpSpPr>
      <p:grpSpPr>
        <a:xfrm>
          <a:off x="0" y="0"/>
          <a:ext cx="0" cy="0"/>
          <a:chOff x="0" y="0"/>
          <a:chExt cx="0" cy="0"/>
        </a:xfrm>
      </p:grpSpPr>
      <p:sp>
        <p:nvSpPr>
          <p:cNvPr id="2" name="Shape 0"/>
          <p:cNvSpPr/>
          <p:nvPr/>
        </p:nvSpPr>
        <p:spPr>
          <a:xfrm>
            <a:off x="502920" y="566928"/>
            <a:ext cx="6446520" cy="5440680"/>
          </a:xfrm>
          <a:prstGeom prst="roundRect">
            <a:avLst>
              <a:gd name="adj" fmla="val 5714"/>
            </a:avLst>
          </a:prstGeom>
          <a:solidFill>
            <a:srgbClr val="34422D"/>
          </a:solidFill>
          <a:ln w="12700">
            <a:solidFill>
              <a:srgbClr val="34422D">
                <a:alpha val="0"/>
              </a:srgbClr>
            </a:solidFill>
            <a:prstDash val="solid"/>
          </a:ln>
        </p:spPr>
      </p:sp>
      <p:sp>
        <p:nvSpPr>
          <p:cNvPr id="3" name="Text 1"/>
          <p:cNvSpPr/>
          <p:nvPr/>
        </p:nvSpPr>
        <p:spPr>
          <a:xfrm>
            <a:off x="822960" y="841248"/>
            <a:ext cx="914400" cy="640080"/>
          </a:xfrm>
          <a:prstGeom prst="rect">
            <a:avLst/>
          </a:prstGeom>
          <a:noFill/>
          <a:ln/>
        </p:spPr>
        <p:txBody>
          <a:bodyPr wrap="square" lIns="0" tIns="0" rIns="0" bIns="0" rtlCol="0" anchor="ctr">
            <a:normAutofit/>
          </a:bodyPr>
          <a:lstStyle/>
          <a:p>
            <a:pPr algn="l" indent="0" marL="0">
              <a:buNone/>
            </a:pPr>
            <a:r>
              <a:rPr lang="en-US" sz="3500" b="1" dirty="0">
                <a:solidFill>
                  <a:srgbClr val="F4F0E6"/>
                </a:solidFill>
                <a:latin typeface="Inter" pitchFamily="34" charset="0"/>
                <a:ea typeface="Inter" pitchFamily="34" charset="-122"/>
                <a:cs typeface="Inter" pitchFamily="34" charset="-120"/>
              </a:rPr>
              <a:t>B+</a:t>
            </a:r>
            <a:endParaRPr lang="en-US" sz="3500" dirty="0"/>
          </a:p>
        </p:txBody>
      </p:sp>
      <p:sp>
        <p:nvSpPr>
          <p:cNvPr id="4" name="Text 2"/>
          <p:cNvSpPr/>
          <p:nvPr/>
        </p:nvSpPr>
        <p:spPr>
          <a:xfrm>
            <a:off x="1783080" y="932688"/>
            <a:ext cx="2651760" cy="310896"/>
          </a:xfrm>
          <a:prstGeom prst="rect">
            <a:avLst/>
          </a:prstGeom>
          <a:noFill/>
          <a:ln/>
        </p:spPr>
        <p:txBody>
          <a:bodyPr wrap="square" lIns="0" tIns="0" rIns="0" bIns="0" rtlCol="0" anchor="ctr">
            <a:normAutofit/>
          </a:bodyPr>
          <a:lstStyle/>
          <a:p>
            <a:pPr algn="l" indent="0" marL="0">
              <a:buNone/>
            </a:pPr>
            <a:r>
              <a:rPr lang="en-US" sz="1200" b="1" spc="70" kern="0" dirty="0">
                <a:solidFill>
                  <a:srgbClr val="F4F0E6"/>
                </a:solidFill>
                <a:latin typeface="Inter" pitchFamily="34" charset="0"/>
                <a:ea typeface="Inter" pitchFamily="34" charset="-122"/>
                <a:cs typeface="Inter" pitchFamily="34" charset="-120"/>
              </a:rPr>
              <a:t>WELLNESS CAFÉ</a:t>
            </a:r>
            <a:endParaRPr lang="en-US" sz="1200" dirty="0"/>
          </a:p>
        </p:txBody>
      </p:sp>
      <p:sp>
        <p:nvSpPr>
          <p:cNvPr id="5" name="Text 3"/>
          <p:cNvSpPr/>
          <p:nvPr/>
        </p:nvSpPr>
        <p:spPr>
          <a:xfrm>
            <a:off x="822960" y="1847088"/>
            <a:ext cx="5394960" cy="1024128"/>
          </a:xfrm>
          <a:prstGeom prst="rect">
            <a:avLst/>
          </a:prstGeom>
          <a:noFill/>
          <a:ln/>
        </p:spPr>
        <p:txBody>
          <a:bodyPr wrap="square" lIns="0" tIns="0" rIns="0" bIns="0" rtlCol="0" anchor="ctr">
            <a:normAutofit/>
          </a:bodyPr>
          <a:lstStyle/>
          <a:p>
            <a:pPr algn="l" indent="0" marL="0">
              <a:buNone/>
            </a:pPr>
            <a:r>
              <a:rPr lang="en-US" sz="3000" b="1" dirty="0">
                <a:solidFill>
                  <a:srgbClr val="F4F0E6"/>
                </a:solidFill>
                <a:latin typeface="Inter" pitchFamily="34" charset="0"/>
                <a:ea typeface="Inter" pitchFamily="34" charset="-122"/>
                <a:cs typeface="Inter" pitchFamily="34" charset="-120"/>
              </a:rPr>
              <a:t>DİJİTAL DENEYİM VE</a:t>
            </a:r>
            <a:endParaRPr lang="en-US" sz="3000" dirty="0"/>
          </a:p>
          <a:p>
            <a:pPr algn="l" indent="0" marL="0">
              <a:buNone/>
            </a:pPr>
            <a:r>
              <a:rPr lang="en-US" sz="3000" b="1" dirty="0">
                <a:solidFill>
                  <a:srgbClr val="F4F0E6"/>
                </a:solidFill>
                <a:latin typeface="Inter" pitchFamily="34" charset="0"/>
                <a:ea typeface="Inter" pitchFamily="34" charset="-122"/>
                <a:cs typeface="Inter" pitchFamily="34" charset="-120"/>
              </a:rPr>
              <a:t>MARKA LANSMANI</a:t>
            </a:r>
            <a:endParaRPr lang="en-US" sz="3000" dirty="0"/>
          </a:p>
        </p:txBody>
      </p:sp>
      <p:sp>
        <p:nvSpPr>
          <p:cNvPr id="6" name="Text 4"/>
          <p:cNvSpPr/>
          <p:nvPr/>
        </p:nvSpPr>
        <p:spPr>
          <a:xfrm>
            <a:off x="822960" y="3154680"/>
            <a:ext cx="5120640" cy="438912"/>
          </a:xfrm>
          <a:prstGeom prst="rect">
            <a:avLst/>
          </a:prstGeom>
          <a:noFill/>
          <a:ln/>
        </p:spPr>
        <p:txBody>
          <a:bodyPr wrap="square" lIns="0" tIns="0" rIns="0" bIns="0" rtlCol="0" anchor="ctr">
            <a:normAutofit/>
          </a:bodyPr>
          <a:lstStyle/>
          <a:p>
            <a:pPr algn="l" indent="0" marL="0">
              <a:buNone/>
            </a:pPr>
            <a:r>
              <a:rPr lang="en-US" sz="2100" b="1" dirty="0">
                <a:solidFill>
                  <a:srgbClr val="D8B98C"/>
                </a:solidFill>
                <a:latin typeface="Inter" pitchFamily="34" charset="0"/>
                <a:ea typeface="Inter" pitchFamily="34" charset="-122"/>
                <a:cs typeface="Inter" pitchFamily="34" charset="-120"/>
              </a:rPr>
              <a:t>İş gününe iyi bir +.</a:t>
            </a:r>
            <a:endParaRPr lang="en-US" sz="2100" dirty="0"/>
          </a:p>
        </p:txBody>
      </p:sp>
      <p:sp>
        <p:nvSpPr>
          <p:cNvPr id="7" name="Text 5"/>
          <p:cNvSpPr/>
          <p:nvPr/>
        </p:nvSpPr>
        <p:spPr>
          <a:xfrm>
            <a:off x="822960" y="3712464"/>
            <a:ext cx="5230368" cy="658368"/>
          </a:xfrm>
          <a:prstGeom prst="rect">
            <a:avLst/>
          </a:prstGeom>
          <a:noFill/>
          <a:ln/>
        </p:spPr>
        <p:txBody>
          <a:bodyPr wrap="square" lIns="0" tIns="0" rIns="0" bIns="0" rtlCol="0" anchor="ctr">
            <a:normAutofit/>
          </a:bodyPr>
          <a:lstStyle/>
          <a:p>
            <a:pPr algn="l" indent="0" marL="0">
              <a:buNone/>
            </a:pPr>
            <a:r>
              <a:rPr lang="en-US" sz="1300" dirty="0">
                <a:solidFill>
                  <a:srgbClr val="DDE4D8"/>
                </a:solidFill>
                <a:latin typeface="Inter" pitchFamily="34" charset="0"/>
                <a:ea typeface="Inter" pitchFamily="34" charset="-122"/>
                <a:cs typeface="Inter" pitchFamily="34" charset="-120"/>
              </a:rPr>
              <a:t>Yoğun çalışan şehir profesyonelleri için tasarlanmış örnek dijital kafe deneyimi.</a:t>
            </a:r>
            <a:endParaRPr lang="en-US" sz="1300" dirty="0"/>
          </a:p>
        </p:txBody>
      </p:sp>
      <p:sp>
        <p:nvSpPr>
          <p:cNvPr id="8" name="Shape 6"/>
          <p:cNvSpPr/>
          <p:nvPr/>
        </p:nvSpPr>
        <p:spPr>
          <a:xfrm>
            <a:off x="822960" y="4718304"/>
            <a:ext cx="1207008" cy="310896"/>
          </a:xfrm>
          <a:prstGeom prst="roundRect">
            <a:avLst>
              <a:gd name="adj" fmla="val 50000"/>
            </a:avLst>
          </a:prstGeom>
          <a:solidFill>
            <a:srgbClr val="4A5842"/>
          </a:solidFill>
          <a:ln w="12700">
            <a:solidFill>
              <a:srgbClr val="4A5842">
                <a:alpha val="0"/>
              </a:srgbClr>
            </a:solidFill>
            <a:prstDash val="solid"/>
          </a:ln>
        </p:spPr>
      </p:sp>
      <p:sp>
        <p:nvSpPr>
          <p:cNvPr id="9" name="Text 7"/>
          <p:cNvSpPr/>
          <p:nvPr/>
        </p:nvSpPr>
        <p:spPr>
          <a:xfrm>
            <a:off x="905256" y="4736592"/>
            <a:ext cx="1042416" cy="274320"/>
          </a:xfrm>
          <a:prstGeom prst="rect">
            <a:avLst/>
          </a:prstGeom>
          <a:noFill/>
          <a:ln/>
        </p:spPr>
        <p:txBody>
          <a:bodyPr wrap="square" lIns="0" tIns="0" rIns="0" bIns="0" rtlCol="0" anchor="ctr">
            <a:normAutofit/>
          </a:bodyPr>
          <a:lstStyle/>
          <a:p>
            <a:pPr algn="ctr" indent="0" marL="0">
              <a:buNone/>
            </a:pPr>
            <a:r>
              <a:rPr lang="en-US" sz="880" b="1" dirty="0">
                <a:solidFill>
                  <a:srgbClr val="F4F0E6"/>
                </a:solidFill>
                <a:latin typeface="Inter" pitchFamily="34" charset="0"/>
                <a:ea typeface="Inter" pitchFamily="34" charset="-122"/>
                <a:cs typeface="Inter" pitchFamily="34" charset="-120"/>
              </a:rPr>
              <a:t>SOSYAL MEDYA</a:t>
            </a:r>
            <a:endParaRPr lang="en-US" sz="880" dirty="0"/>
          </a:p>
        </p:txBody>
      </p:sp>
      <p:sp>
        <p:nvSpPr>
          <p:cNvPr id="10" name="Shape 8"/>
          <p:cNvSpPr/>
          <p:nvPr/>
        </p:nvSpPr>
        <p:spPr>
          <a:xfrm>
            <a:off x="2148840" y="4718304"/>
            <a:ext cx="1078992" cy="310896"/>
          </a:xfrm>
          <a:prstGeom prst="roundRect">
            <a:avLst>
              <a:gd name="adj" fmla="val 50000"/>
            </a:avLst>
          </a:prstGeom>
          <a:solidFill>
            <a:srgbClr val="4A5842"/>
          </a:solidFill>
          <a:ln w="12700">
            <a:solidFill>
              <a:srgbClr val="4A5842">
                <a:alpha val="0"/>
              </a:srgbClr>
            </a:solidFill>
            <a:prstDash val="solid"/>
          </a:ln>
        </p:spPr>
      </p:sp>
      <p:sp>
        <p:nvSpPr>
          <p:cNvPr id="11" name="Text 9"/>
          <p:cNvSpPr/>
          <p:nvPr/>
        </p:nvSpPr>
        <p:spPr>
          <a:xfrm>
            <a:off x="2231136" y="4736592"/>
            <a:ext cx="914400" cy="274320"/>
          </a:xfrm>
          <a:prstGeom prst="rect">
            <a:avLst/>
          </a:prstGeom>
          <a:noFill/>
          <a:ln/>
        </p:spPr>
        <p:txBody>
          <a:bodyPr wrap="square" lIns="0" tIns="0" rIns="0" bIns="0" rtlCol="0" anchor="ctr">
            <a:normAutofit/>
          </a:bodyPr>
          <a:lstStyle/>
          <a:p>
            <a:pPr algn="ctr" indent="0" marL="0">
              <a:buNone/>
            </a:pPr>
            <a:r>
              <a:rPr lang="en-US" sz="880" b="1" dirty="0">
                <a:solidFill>
                  <a:srgbClr val="F4F0E6"/>
                </a:solidFill>
                <a:latin typeface="Inter" pitchFamily="34" charset="0"/>
                <a:ea typeface="Inter" pitchFamily="34" charset="-122"/>
                <a:cs typeface="Inter" pitchFamily="34" charset="-120"/>
              </a:rPr>
              <a:t>WEB DEMO</a:t>
            </a:r>
            <a:endParaRPr lang="en-US" sz="880" dirty="0"/>
          </a:p>
        </p:txBody>
      </p:sp>
      <p:sp>
        <p:nvSpPr>
          <p:cNvPr id="12" name="Shape 10"/>
          <p:cNvSpPr/>
          <p:nvPr/>
        </p:nvSpPr>
        <p:spPr>
          <a:xfrm>
            <a:off x="3355848" y="4718304"/>
            <a:ext cx="1115568" cy="310896"/>
          </a:xfrm>
          <a:prstGeom prst="roundRect">
            <a:avLst>
              <a:gd name="adj" fmla="val 50000"/>
            </a:avLst>
          </a:prstGeom>
          <a:solidFill>
            <a:srgbClr val="4A5842"/>
          </a:solidFill>
          <a:ln w="12700">
            <a:solidFill>
              <a:srgbClr val="4A5842">
                <a:alpha val="0"/>
              </a:srgbClr>
            </a:solidFill>
            <a:prstDash val="solid"/>
          </a:ln>
        </p:spPr>
      </p:sp>
      <p:sp>
        <p:nvSpPr>
          <p:cNvPr id="13" name="Text 11"/>
          <p:cNvSpPr/>
          <p:nvPr/>
        </p:nvSpPr>
        <p:spPr>
          <a:xfrm>
            <a:off x="3438144" y="4736592"/>
            <a:ext cx="950976" cy="274320"/>
          </a:xfrm>
          <a:prstGeom prst="rect">
            <a:avLst/>
          </a:prstGeom>
          <a:noFill/>
          <a:ln/>
        </p:spPr>
        <p:txBody>
          <a:bodyPr wrap="square" lIns="0" tIns="0" rIns="0" bIns="0" rtlCol="0" anchor="ctr">
            <a:normAutofit/>
          </a:bodyPr>
          <a:lstStyle/>
          <a:p>
            <a:pPr algn="ctr" indent="0" marL="0">
              <a:buNone/>
            </a:pPr>
            <a:r>
              <a:rPr lang="en-US" sz="880" b="1" dirty="0">
                <a:solidFill>
                  <a:srgbClr val="F4F0E6"/>
                </a:solidFill>
                <a:latin typeface="Inter" pitchFamily="34" charset="0"/>
                <a:ea typeface="Inter" pitchFamily="34" charset="-122"/>
                <a:cs typeface="Inter" pitchFamily="34" charset="-120"/>
              </a:rPr>
              <a:t>AI BARISTA</a:t>
            </a:r>
            <a:endParaRPr lang="en-US" sz="880" dirty="0"/>
          </a:p>
        </p:txBody>
      </p:sp>
      <p:sp>
        <p:nvSpPr>
          <p:cNvPr id="14" name="Shape 12"/>
          <p:cNvSpPr/>
          <p:nvPr/>
        </p:nvSpPr>
        <p:spPr>
          <a:xfrm>
            <a:off x="4599432" y="4718304"/>
            <a:ext cx="914400" cy="310896"/>
          </a:xfrm>
          <a:prstGeom prst="roundRect">
            <a:avLst>
              <a:gd name="adj" fmla="val 50000"/>
            </a:avLst>
          </a:prstGeom>
          <a:solidFill>
            <a:srgbClr val="4A5842"/>
          </a:solidFill>
          <a:ln w="12700">
            <a:solidFill>
              <a:srgbClr val="4A5842">
                <a:alpha val="0"/>
              </a:srgbClr>
            </a:solidFill>
            <a:prstDash val="solid"/>
          </a:ln>
        </p:spPr>
      </p:sp>
      <p:sp>
        <p:nvSpPr>
          <p:cNvPr id="15" name="Text 13"/>
          <p:cNvSpPr/>
          <p:nvPr/>
        </p:nvSpPr>
        <p:spPr>
          <a:xfrm>
            <a:off x="4681728" y="4736592"/>
            <a:ext cx="749808" cy="274320"/>
          </a:xfrm>
          <a:prstGeom prst="rect">
            <a:avLst/>
          </a:prstGeom>
          <a:noFill/>
          <a:ln/>
        </p:spPr>
        <p:txBody>
          <a:bodyPr wrap="square" lIns="0" tIns="0" rIns="0" bIns="0" rtlCol="0" anchor="ctr">
            <a:normAutofit/>
          </a:bodyPr>
          <a:lstStyle/>
          <a:p>
            <a:pPr algn="ctr" indent="0" marL="0">
              <a:buNone/>
            </a:pPr>
            <a:r>
              <a:rPr lang="en-US" sz="880" b="1" dirty="0">
                <a:solidFill>
                  <a:srgbClr val="F4F0E6"/>
                </a:solidFill>
                <a:latin typeface="Inter" pitchFamily="34" charset="0"/>
                <a:ea typeface="Inter" pitchFamily="34" charset="-122"/>
                <a:cs typeface="Inter" pitchFamily="34" charset="-120"/>
              </a:rPr>
              <a:t>8 SLAYT</a:t>
            </a:r>
            <a:endParaRPr lang="en-US" sz="880" dirty="0"/>
          </a:p>
        </p:txBody>
      </p:sp>
      <p:sp>
        <p:nvSpPr>
          <p:cNvPr id="16" name="Shape 14"/>
          <p:cNvSpPr/>
          <p:nvPr/>
        </p:nvSpPr>
        <p:spPr>
          <a:xfrm>
            <a:off x="7251192" y="566928"/>
            <a:ext cx="4434840" cy="5440680"/>
          </a:xfrm>
          <a:prstGeom prst="roundRect">
            <a:avLst>
              <a:gd name="adj" fmla="val 7010"/>
            </a:avLst>
          </a:prstGeom>
          <a:solidFill>
            <a:srgbClr val="FFFFFF"/>
          </a:solidFill>
          <a:ln w="12700">
            <a:solidFill>
              <a:srgbClr val="E3DEC3"/>
            </a:solidFill>
            <a:prstDash val="solid"/>
          </a:ln>
        </p:spPr>
      </p:sp>
      <p:pic>
        <p:nvPicPr>
          <p:cNvPr id="17" name="Image 0" descr="/mnt/data/a_minimalist_warm_high_end_product_still_life_sc.png">    </p:cNvPr>
          <p:cNvPicPr>
            <a:picLocks noChangeAspect="1"/>
          </p:cNvPicPr>
          <p:nvPr/>
        </p:nvPicPr>
        <p:blipFill>
          <a:blip r:embed="rId1"/>
          <a:stretch>
            <a:fillRect/>
          </a:stretch>
        </p:blipFill>
        <p:spPr>
          <a:xfrm>
            <a:off x="7251192" y="566928"/>
            <a:ext cx="4434840" cy="5440680"/>
          </a:xfrm>
          <a:prstGeom prst="rect">
            <a:avLst/>
          </a:prstGeom>
        </p:spPr>
      </p:pic>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8D8A80"/>
                </a:solidFill>
                <a:latin typeface="Inter"/>
                <a:ea typeface="Inter"/>
                <a:cs typeface="Inter"/>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621792"/>
            <a:ext cx="4480560" cy="237744"/>
          </a:xfrm>
          <a:prstGeom prst="rect">
            <a:avLst/>
          </a:prstGeom>
          <a:noFill/>
          <a:ln/>
        </p:spPr>
        <p:txBody>
          <a:bodyPr wrap="square" lIns="0" tIns="0" rIns="0" bIns="0" rtlCol="0" anchor="ctr">
            <a:normAutofit/>
          </a:bodyPr>
          <a:lstStyle/>
          <a:p>
            <a:pPr algn="l" indent="0" marL="0">
              <a:buNone/>
            </a:pPr>
            <a:r>
              <a:rPr lang="en-US" sz="900" b="1" spc="125" kern="0" dirty="0">
                <a:solidFill>
                  <a:srgbClr val="68734B"/>
                </a:solidFill>
                <a:latin typeface="Inter" pitchFamily="34" charset="0"/>
                <a:ea typeface="Inter" pitchFamily="34" charset="-122"/>
                <a:cs typeface="Inter" pitchFamily="34" charset="-120"/>
              </a:rPr>
              <a:t>01 / STRATEJIK ÇERÇEVE</a:t>
            </a:r>
            <a:endParaRPr lang="en-US" sz="900" dirty="0"/>
          </a:p>
        </p:txBody>
      </p:sp>
      <p:sp>
        <p:nvSpPr>
          <p:cNvPr id="3" name="Text 1"/>
          <p:cNvSpPr/>
          <p:nvPr/>
        </p:nvSpPr>
        <p:spPr>
          <a:xfrm>
            <a:off x="594360" y="941832"/>
            <a:ext cx="10789920" cy="658368"/>
          </a:xfrm>
          <a:prstGeom prst="rect">
            <a:avLst/>
          </a:prstGeom>
          <a:noFill/>
          <a:ln/>
        </p:spPr>
        <p:txBody>
          <a:bodyPr wrap="square" lIns="0" tIns="0" rIns="0" bIns="0" rtlCol="0" anchor="ctr">
            <a:normAutofit/>
          </a:bodyPr>
          <a:lstStyle/>
          <a:p>
            <a:pPr algn="l" indent="0" marL="0">
              <a:buNone/>
            </a:pPr>
            <a:r>
              <a:rPr lang="en-US" sz="2800" b="1" dirty="0">
                <a:solidFill>
                  <a:srgbClr val="34422D"/>
                </a:solidFill>
                <a:latin typeface="Inter" pitchFamily="34" charset="0"/>
                <a:ea typeface="Inter" pitchFamily="34" charset="-122"/>
                <a:cs typeface="Inter" pitchFamily="34" charset="-120"/>
              </a:rPr>
              <a:t>Beyaz yakalının günü üç doğal mola anına bölünüyor.</a:t>
            </a:r>
            <a:endParaRPr lang="en-US" sz="2800" dirty="0"/>
          </a:p>
        </p:txBody>
      </p:sp>
      <p:sp>
        <p:nvSpPr>
          <p:cNvPr id="4" name="Text 2"/>
          <p:cNvSpPr/>
          <p:nvPr/>
        </p:nvSpPr>
        <p:spPr>
          <a:xfrm>
            <a:off x="594360" y="1664208"/>
            <a:ext cx="10607040" cy="457200"/>
          </a:xfrm>
          <a:prstGeom prst="rect">
            <a:avLst/>
          </a:prstGeom>
          <a:noFill/>
          <a:ln/>
        </p:spPr>
        <p:txBody>
          <a:bodyPr wrap="square" lIns="0" tIns="0" rIns="0" bIns="0" rtlCol="0" anchor="ctr">
            <a:normAutofit/>
          </a:bodyPr>
          <a:lstStyle/>
          <a:p>
            <a:pPr algn="l" indent="0" marL="0">
              <a:buNone/>
            </a:pPr>
            <a:r>
              <a:rPr lang="en-US" sz="1250" dirty="0">
                <a:solidFill>
                  <a:srgbClr val="6B675F"/>
                </a:solidFill>
                <a:latin typeface="Inter" pitchFamily="34" charset="0"/>
                <a:ea typeface="Inter" pitchFamily="34" charset="-122"/>
                <a:cs typeface="Inter" pitchFamily="34" charset="-120"/>
              </a:rPr>
              <a:t>B+ bu anları aynı marka fikri altında sahipleniyor: 08:00, 12:30 ve 15:00.</a:t>
            </a:r>
            <a:endParaRPr lang="en-US" sz="1250" dirty="0"/>
          </a:p>
        </p:txBody>
      </p:sp>
      <p:sp>
        <p:nvSpPr>
          <p:cNvPr id="5" name="Shape 3"/>
          <p:cNvSpPr/>
          <p:nvPr/>
        </p:nvSpPr>
        <p:spPr>
          <a:xfrm>
            <a:off x="594360" y="2331720"/>
            <a:ext cx="2999232" cy="3456432"/>
          </a:xfrm>
          <a:prstGeom prst="roundRect">
            <a:avLst>
              <a:gd name="adj" fmla="val 8537"/>
            </a:avLst>
          </a:prstGeom>
          <a:solidFill>
            <a:srgbClr val="FFFFFF"/>
          </a:solidFill>
          <a:ln w="12700">
            <a:solidFill>
              <a:srgbClr val="E3DEC3"/>
            </a:solidFill>
            <a:prstDash val="solid"/>
          </a:ln>
        </p:spPr>
      </p:sp>
      <p:pic>
        <p:nvPicPr>
          <p:cNvPr id="6" name="Image 0" descr="/mnt/data/_bplus_zip/Bplus_Cafe_Digital_Case/02_website/assets/latte.png">    </p:cNvPr>
          <p:cNvPicPr>
            <a:picLocks noChangeAspect="1"/>
          </p:cNvPicPr>
          <p:nvPr/>
        </p:nvPicPr>
        <p:blipFill>
          <a:blip r:embed="rId1"/>
          <a:stretch>
            <a:fillRect/>
          </a:stretch>
        </p:blipFill>
        <p:spPr>
          <a:xfrm>
            <a:off x="667512" y="2404872"/>
            <a:ext cx="2852928" cy="1371600"/>
          </a:xfrm>
          <a:prstGeom prst="rect">
            <a:avLst/>
          </a:prstGeom>
        </p:spPr>
      </p:pic>
      <p:sp>
        <p:nvSpPr>
          <p:cNvPr id="7" name="Text 4"/>
          <p:cNvSpPr/>
          <p:nvPr/>
        </p:nvSpPr>
        <p:spPr>
          <a:xfrm>
            <a:off x="795528" y="3913632"/>
            <a:ext cx="1005840" cy="347472"/>
          </a:xfrm>
          <a:prstGeom prst="rect">
            <a:avLst/>
          </a:prstGeom>
          <a:noFill/>
          <a:ln/>
        </p:spPr>
        <p:txBody>
          <a:bodyPr wrap="square" lIns="0" tIns="0" rIns="0" bIns="0" rtlCol="0" anchor="ctr">
            <a:normAutofit/>
          </a:bodyPr>
          <a:lstStyle/>
          <a:p>
            <a:pPr algn="l" indent="0" marL="0">
              <a:buNone/>
            </a:pPr>
            <a:r>
              <a:rPr lang="en-US" sz="2300" b="1" dirty="0">
                <a:solidFill>
                  <a:srgbClr val="34422D"/>
                </a:solidFill>
                <a:latin typeface="Inter" pitchFamily="34" charset="0"/>
                <a:ea typeface="Inter" pitchFamily="34" charset="-122"/>
                <a:cs typeface="Inter" pitchFamily="34" charset="-120"/>
              </a:rPr>
              <a:t>08:00</a:t>
            </a:r>
            <a:endParaRPr lang="en-US" sz="2300" dirty="0"/>
          </a:p>
        </p:txBody>
      </p:sp>
      <p:sp>
        <p:nvSpPr>
          <p:cNvPr id="8" name="Text 5"/>
          <p:cNvSpPr/>
          <p:nvPr/>
        </p:nvSpPr>
        <p:spPr>
          <a:xfrm>
            <a:off x="1947672" y="3968496"/>
            <a:ext cx="1325880" cy="237744"/>
          </a:xfrm>
          <a:prstGeom prst="rect">
            <a:avLst/>
          </a:prstGeom>
          <a:noFill/>
          <a:ln/>
        </p:spPr>
        <p:txBody>
          <a:bodyPr wrap="square" lIns="0" tIns="0" rIns="0" bIns="0" rtlCol="0" anchor="ctr">
            <a:normAutofit/>
          </a:bodyPr>
          <a:lstStyle/>
          <a:p>
            <a:pPr algn="r" indent="0" marL="0">
              <a:buNone/>
            </a:pPr>
            <a:r>
              <a:rPr lang="en-US" sz="1000" b="1" dirty="0">
                <a:solidFill>
                  <a:srgbClr val="68734B"/>
                </a:solidFill>
                <a:latin typeface="Inter" pitchFamily="34" charset="0"/>
                <a:ea typeface="Inter" pitchFamily="34" charset="-122"/>
                <a:cs typeface="Inter" pitchFamily="34" charset="-120"/>
              </a:rPr>
              <a:t>İŞE GİDİŞ</a:t>
            </a:r>
            <a:endParaRPr lang="en-US" sz="1000" dirty="0"/>
          </a:p>
        </p:txBody>
      </p:sp>
      <p:sp>
        <p:nvSpPr>
          <p:cNvPr id="9" name="Text 6"/>
          <p:cNvSpPr/>
          <p:nvPr/>
        </p:nvSpPr>
        <p:spPr>
          <a:xfrm>
            <a:off x="795528" y="4498848"/>
            <a:ext cx="2514600" cy="749808"/>
          </a:xfrm>
          <a:prstGeom prst="rect">
            <a:avLst/>
          </a:prstGeom>
          <a:noFill/>
          <a:ln/>
        </p:spPr>
        <p:txBody>
          <a:bodyPr wrap="square" lIns="0" tIns="0" rIns="0" bIns="0" rtlCol="0" anchor="ctr">
            <a:normAutofit/>
          </a:bodyPr>
          <a:lstStyle/>
          <a:p>
            <a:pPr algn="l" indent="0" marL="0">
              <a:buNone/>
            </a:pPr>
            <a:r>
              <a:rPr lang="en-US" sz="1100" dirty="0">
                <a:solidFill>
                  <a:srgbClr val="6B675F"/>
                </a:solidFill>
                <a:latin typeface="Inter" pitchFamily="34" charset="0"/>
                <a:ea typeface="Inter" pitchFamily="34" charset="-122"/>
                <a:cs typeface="Inter" pitchFamily="34" charset="-120"/>
              </a:rPr>
              <a:t>Hızlı karar anı.</a:t>
            </a:r>
            <a:endParaRPr lang="en-US" sz="1100" dirty="0"/>
          </a:p>
          <a:p>
            <a:pPr algn="l" indent="0" marL="0">
              <a:buNone/>
            </a:pPr>
            <a:r>
              <a:rPr lang="en-US" sz="1100" dirty="0">
                <a:solidFill>
                  <a:srgbClr val="6B675F"/>
                </a:solidFill>
                <a:latin typeface="Inter" pitchFamily="34" charset="0"/>
                <a:ea typeface="Inter" pitchFamily="34" charset="-122"/>
                <a:cs typeface="Inter" pitchFamily="34" charset="-120"/>
              </a:rPr>
              <a:t>Take-away kahve veya taze bir fincan.</a:t>
            </a:r>
            <a:endParaRPr lang="en-US" sz="1100" dirty="0"/>
          </a:p>
        </p:txBody>
      </p:sp>
      <p:sp>
        <p:nvSpPr>
          <p:cNvPr id="10" name="Shape 7"/>
          <p:cNvSpPr/>
          <p:nvPr/>
        </p:nvSpPr>
        <p:spPr>
          <a:xfrm>
            <a:off x="795528" y="5294376"/>
            <a:ext cx="1572768" cy="274320"/>
          </a:xfrm>
          <a:prstGeom prst="roundRect">
            <a:avLst>
              <a:gd name="adj" fmla="val 50000"/>
            </a:avLst>
          </a:prstGeom>
          <a:solidFill>
            <a:srgbClr val="E9EDE2"/>
          </a:solidFill>
          <a:ln w="12700">
            <a:solidFill>
              <a:srgbClr val="E9EDE2">
                <a:alpha val="0"/>
              </a:srgbClr>
            </a:solidFill>
            <a:prstDash val="solid"/>
          </a:ln>
        </p:spPr>
      </p:sp>
      <p:sp>
        <p:nvSpPr>
          <p:cNvPr id="11" name="Text 8"/>
          <p:cNvSpPr/>
          <p:nvPr/>
        </p:nvSpPr>
        <p:spPr>
          <a:xfrm>
            <a:off x="877824" y="5312664"/>
            <a:ext cx="1408176" cy="237744"/>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GÜNE BİR +</a:t>
            </a:r>
            <a:endParaRPr lang="en-US" sz="880" dirty="0"/>
          </a:p>
        </p:txBody>
      </p:sp>
      <p:sp>
        <p:nvSpPr>
          <p:cNvPr id="12" name="Shape 9"/>
          <p:cNvSpPr/>
          <p:nvPr/>
        </p:nvSpPr>
        <p:spPr>
          <a:xfrm>
            <a:off x="3977640" y="2331720"/>
            <a:ext cx="2999232" cy="3456432"/>
          </a:xfrm>
          <a:prstGeom prst="roundRect">
            <a:avLst>
              <a:gd name="adj" fmla="val 8537"/>
            </a:avLst>
          </a:prstGeom>
          <a:solidFill>
            <a:srgbClr val="FFFFFF"/>
          </a:solidFill>
          <a:ln w="12700">
            <a:solidFill>
              <a:srgbClr val="E3DEC3"/>
            </a:solidFill>
            <a:prstDash val="solid"/>
          </a:ln>
        </p:spPr>
      </p:sp>
      <p:pic>
        <p:nvPicPr>
          <p:cNvPr id="13" name="Image 1" descr="/mnt/data/_bplus_zip/Bplus_Cafe_Digital_Case/02_website/assets/greenjuice.png">    </p:cNvPr>
          <p:cNvPicPr>
            <a:picLocks noChangeAspect="1"/>
          </p:cNvPicPr>
          <p:nvPr/>
        </p:nvPicPr>
        <p:blipFill>
          <a:blip r:embed="rId2"/>
          <a:stretch>
            <a:fillRect/>
          </a:stretch>
        </p:blipFill>
        <p:spPr>
          <a:xfrm>
            <a:off x="4050792" y="2404872"/>
            <a:ext cx="2852928" cy="1371600"/>
          </a:xfrm>
          <a:prstGeom prst="rect">
            <a:avLst/>
          </a:prstGeom>
        </p:spPr>
      </p:pic>
      <p:sp>
        <p:nvSpPr>
          <p:cNvPr id="14" name="Text 10"/>
          <p:cNvSpPr/>
          <p:nvPr/>
        </p:nvSpPr>
        <p:spPr>
          <a:xfrm>
            <a:off x="4178808" y="3913632"/>
            <a:ext cx="1005840" cy="347472"/>
          </a:xfrm>
          <a:prstGeom prst="rect">
            <a:avLst/>
          </a:prstGeom>
          <a:noFill/>
          <a:ln/>
        </p:spPr>
        <p:txBody>
          <a:bodyPr wrap="square" lIns="0" tIns="0" rIns="0" bIns="0" rtlCol="0" anchor="ctr">
            <a:normAutofit/>
          </a:bodyPr>
          <a:lstStyle/>
          <a:p>
            <a:pPr algn="l" indent="0" marL="0">
              <a:buNone/>
            </a:pPr>
            <a:r>
              <a:rPr lang="en-US" sz="2300" b="1" dirty="0">
                <a:solidFill>
                  <a:srgbClr val="34422D"/>
                </a:solidFill>
                <a:latin typeface="Inter" pitchFamily="34" charset="0"/>
                <a:ea typeface="Inter" pitchFamily="34" charset="-122"/>
                <a:cs typeface="Inter" pitchFamily="34" charset="-120"/>
              </a:rPr>
              <a:t>12:30</a:t>
            </a:r>
            <a:endParaRPr lang="en-US" sz="2300" dirty="0"/>
          </a:p>
        </p:txBody>
      </p:sp>
      <p:sp>
        <p:nvSpPr>
          <p:cNvPr id="15" name="Text 11"/>
          <p:cNvSpPr/>
          <p:nvPr/>
        </p:nvSpPr>
        <p:spPr>
          <a:xfrm>
            <a:off x="5330952" y="3968496"/>
            <a:ext cx="1325880" cy="237744"/>
          </a:xfrm>
          <a:prstGeom prst="rect">
            <a:avLst/>
          </a:prstGeom>
          <a:noFill/>
          <a:ln/>
        </p:spPr>
        <p:txBody>
          <a:bodyPr wrap="square" lIns="0" tIns="0" rIns="0" bIns="0" rtlCol="0" anchor="ctr">
            <a:normAutofit/>
          </a:bodyPr>
          <a:lstStyle/>
          <a:p>
            <a:pPr algn="r" indent="0" marL="0">
              <a:buNone/>
            </a:pPr>
            <a:r>
              <a:rPr lang="en-US" sz="1000" b="1" dirty="0">
                <a:solidFill>
                  <a:srgbClr val="68734B"/>
                </a:solidFill>
                <a:latin typeface="Inter" pitchFamily="34" charset="0"/>
                <a:ea typeface="Inter" pitchFamily="34" charset="-122"/>
                <a:cs typeface="Inter" pitchFamily="34" charset="-120"/>
              </a:rPr>
              <a:t>ÖĞLE ARASI</a:t>
            </a:r>
            <a:endParaRPr lang="en-US" sz="1000" dirty="0"/>
          </a:p>
        </p:txBody>
      </p:sp>
      <p:sp>
        <p:nvSpPr>
          <p:cNvPr id="16" name="Text 12"/>
          <p:cNvSpPr/>
          <p:nvPr/>
        </p:nvSpPr>
        <p:spPr>
          <a:xfrm>
            <a:off x="4178808" y="4498848"/>
            <a:ext cx="2514600" cy="749808"/>
          </a:xfrm>
          <a:prstGeom prst="rect">
            <a:avLst/>
          </a:prstGeom>
          <a:noFill/>
          <a:ln/>
        </p:spPr>
        <p:txBody>
          <a:bodyPr wrap="square" lIns="0" tIns="0" rIns="0" bIns="0" rtlCol="0" anchor="ctr">
            <a:normAutofit/>
          </a:bodyPr>
          <a:lstStyle/>
          <a:p>
            <a:pPr algn="l" indent="0" marL="0">
              <a:buNone/>
            </a:pPr>
            <a:r>
              <a:rPr lang="en-US" sz="1100" dirty="0">
                <a:solidFill>
                  <a:srgbClr val="6B675F"/>
                </a:solidFill>
                <a:latin typeface="Inter" pitchFamily="34" charset="0"/>
                <a:ea typeface="Inter" pitchFamily="34" charset="-122"/>
                <a:cs typeface="Inter" pitchFamily="34" charset="-120"/>
              </a:rPr>
              <a:t>Zaman kısıtlı.</a:t>
            </a:r>
            <a:endParaRPr lang="en-US" sz="1100" dirty="0"/>
          </a:p>
          <a:p>
            <a:pPr algn="l" indent="0" marL="0">
              <a:buNone/>
            </a:pPr>
            <a:r>
              <a:rPr lang="en-US" sz="1100" dirty="0">
                <a:solidFill>
                  <a:srgbClr val="6B675F"/>
                </a:solidFill>
                <a:latin typeface="Inter" pitchFamily="34" charset="0"/>
                <a:ea typeface="Inter" pitchFamily="34" charset="-122"/>
                <a:cs typeface="Inter" pitchFamily="34" charset="-120"/>
              </a:rPr>
              <a:t>Taze kase ve içecek alternatifleri.</a:t>
            </a:r>
            <a:endParaRPr lang="en-US" sz="1100" dirty="0"/>
          </a:p>
        </p:txBody>
      </p:sp>
      <p:sp>
        <p:nvSpPr>
          <p:cNvPr id="17" name="Shape 13"/>
          <p:cNvSpPr/>
          <p:nvPr/>
        </p:nvSpPr>
        <p:spPr>
          <a:xfrm>
            <a:off x="4178808" y="5294376"/>
            <a:ext cx="1572768" cy="274320"/>
          </a:xfrm>
          <a:prstGeom prst="roundRect">
            <a:avLst>
              <a:gd name="adj" fmla="val 50000"/>
            </a:avLst>
          </a:prstGeom>
          <a:solidFill>
            <a:srgbClr val="E9EDE2"/>
          </a:solidFill>
          <a:ln w="12700">
            <a:solidFill>
              <a:srgbClr val="E9EDE2">
                <a:alpha val="0"/>
              </a:srgbClr>
            </a:solidFill>
            <a:prstDash val="solid"/>
          </a:ln>
        </p:spPr>
      </p:sp>
      <p:sp>
        <p:nvSpPr>
          <p:cNvPr id="18" name="Text 14"/>
          <p:cNvSpPr/>
          <p:nvPr/>
        </p:nvSpPr>
        <p:spPr>
          <a:xfrm>
            <a:off x="4261104" y="5312664"/>
            <a:ext cx="1408176" cy="237744"/>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ÖĞLE ARASINA BİR +</a:t>
            </a:r>
            <a:endParaRPr lang="en-US" sz="880" dirty="0"/>
          </a:p>
        </p:txBody>
      </p:sp>
      <p:sp>
        <p:nvSpPr>
          <p:cNvPr id="19" name="Shape 15"/>
          <p:cNvSpPr/>
          <p:nvPr/>
        </p:nvSpPr>
        <p:spPr>
          <a:xfrm>
            <a:off x="7360920" y="2331720"/>
            <a:ext cx="2999232" cy="3456432"/>
          </a:xfrm>
          <a:prstGeom prst="roundRect">
            <a:avLst>
              <a:gd name="adj" fmla="val 8537"/>
            </a:avLst>
          </a:prstGeom>
          <a:solidFill>
            <a:srgbClr val="34422D"/>
          </a:solidFill>
          <a:ln w="12700">
            <a:solidFill>
              <a:srgbClr val="E3DEC3"/>
            </a:solidFill>
            <a:prstDash val="solid"/>
          </a:ln>
        </p:spPr>
      </p:sp>
      <p:pic>
        <p:nvPicPr>
          <p:cNvPr id="20" name="Image 2" descr="/mnt/data/_bplus_zip/Bplus_Cafe_Digital_Case/02_website/assets/matcha.png">    </p:cNvPr>
          <p:cNvPicPr>
            <a:picLocks noChangeAspect="1"/>
          </p:cNvPicPr>
          <p:nvPr/>
        </p:nvPicPr>
        <p:blipFill>
          <a:blip r:embed="rId3"/>
          <a:stretch>
            <a:fillRect/>
          </a:stretch>
        </p:blipFill>
        <p:spPr>
          <a:xfrm>
            <a:off x="7434072" y="2404872"/>
            <a:ext cx="2852928" cy="1371600"/>
          </a:xfrm>
          <a:prstGeom prst="rect">
            <a:avLst/>
          </a:prstGeom>
        </p:spPr>
      </p:pic>
      <p:sp>
        <p:nvSpPr>
          <p:cNvPr id="21" name="Text 16"/>
          <p:cNvSpPr/>
          <p:nvPr/>
        </p:nvSpPr>
        <p:spPr>
          <a:xfrm>
            <a:off x="7562088" y="3913632"/>
            <a:ext cx="1005840" cy="347472"/>
          </a:xfrm>
          <a:prstGeom prst="rect">
            <a:avLst/>
          </a:prstGeom>
          <a:noFill/>
          <a:ln/>
        </p:spPr>
        <p:txBody>
          <a:bodyPr wrap="square" lIns="0" tIns="0" rIns="0" bIns="0" rtlCol="0" anchor="ctr">
            <a:normAutofit/>
          </a:bodyPr>
          <a:lstStyle/>
          <a:p>
            <a:pPr algn="l" indent="0" marL="0">
              <a:buNone/>
            </a:pPr>
            <a:r>
              <a:rPr lang="en-US" sz="2300" b="1" dirty="0">
                <a:solidFill>
                  <a:srgbClr val="F4F0E6"/>
                </a:solidFill>
                <a:latin typeface="Inter" pitchFamily="34" charset="0"/>
                <a:ea typeface="Inter" pitchFamily="34" charset="-122"/>
                <a:cs typeface="Inter" pitchFamily="34" charset="-120"/>
              </a:rPr>
              <a:t>15:00</a:t>
            </a:r>
            <a:endParaRPr lang="en-US" sz="2300" dirty="0"/>
          </a:p>
        </p:txBody>
      </p:sp>
      <p:sp>
        <p:nvSpPr>
          <p:cNvPr id="22" name="Text 17"/>
          <p:cNvSpPr/>
          <p:nvPr/>
        </p:nvSpPr>
        <p:spPr>
          <a:xfrm>
            <a:off x="8714232" y="3968496"/>
            <a:ext cx="1325880" cy="237744"/>
          </a:xfrm>
          <a:prstGeom prst="rect">
            <a:avLst/>
          </a:prstGeom>
          <a:noFill/>
          <a:ln/>
        </p:spPr>
        <p:txBody>
          <a:bodyPr wrap="square" lIns="0" tIns="0" rIns="0" bIns="0" rtlCol="0" anchor="ctr">
            <a:normAutofit/>
          </a:bodyPr>
          <a:lstStyle/>
          <a:p>
            <a:pPr algn="r" indent="0" marL="0">
              <a:buNone/>
            </a:pPr>
            <a:r>
              <a:rPr lang="en-US" sz="1000" b="1" dirty="0">
                <a:solidFill>
                  <a:srgbClr val="D8B98C"/>
                </a:solidFill>
                <a:latin typeface="Inter" pitchFamily="34" charset="0"/>
                <a:ea typeface="Inter" pitchFamily="34" charset="-122"/>
                <a:cs typeface="Inter" pitchFamily="34" charset="-120"/>
              </a:rPr>
              <a:t>B+ MOLASI</a:t>
            </a:r>
            <a:endParaRPr lang="en-US" sz="1000" dirty="0"/>
          </a:p>
        </p:txBody>
      </p:sp>
      <p:sp>
        <p:nvSpPr>
          <p:cNvPr id="23" name="Text 18"/>
          <p:cNvSpPr/>
          <p:nvPr/>
        </p:nvSpPr>
        <p:spPr>
          <a:xfrm>
            <a:off x="7562088" y="4498848"/>
            <a:ext cx="2514600" cy="749808"/>
          </a:xfrm>
          <a:prstGeom prst="rect">
            <a:avLst/>
          </a:prstGeom>
          <a:noFill/>
          <a:ln/>
        </p:spPr>
        <p:txBody>
          <a:bodyPr wrap="square" lIns="0" tIns="0" rIns="0" bIns="0" rtlCol="0" anchor="ctr">
            <a:normAutofit/>
          </a:bodyPr>
          <a:lstStyle/>
          <a:p>
            <a:pPr algn="l" indent="0" marL="0">
              <a:buNone/>
            </a:pPr>
            <a:r>
              <a:rPr lang="en-US" sz="1100" dirty="0">
                <a:solidFill>
                  <a:srgbClr val="DDE4D8"/>
                </a:solidFill>
                <a:latin typeface="Inter" pitchFamily="34" charset="0"/>
                <a:ea typeface="Inter" pitchFamily="34" charset="-122"/>
                <a:cs typeface="Inter" pitchFamily="34" charset="-120"/>
              </a:rPr>
              <a:t>Kısa bir ritim değişimi.</a:t>
            </a:r>
            <a:endParaRPr lang="en-US" sz="1100" dirty="0"/>
          </a:p>
          <a:p>
            <a:pPr algn="l" indent="0" marL="0">
              <a:buNone/>
            </a:pPr>
            <a:r>
              <a:rPr lang="en-US" sz="1100" dirty="0">
                <a:solidFill>
                  <a:srgbClr val="DDE4D8"/>
                </a:solidFill>
                <a:latin typeface="Inter" pitchFamily="34" charset="0"/>
                <a:ea typeface="Inter" pitchFamily="34" charset="-122"/>
                <a:cs typeface="Inter" pitchFamily="34" charset="-120"/>
              </a:rPr>
              <a:t>Matcha veya bitkisel alternatifler.</a:t>
            </a:r>
            <a:endParaRPr lang="en-US" sz="1100" dirty="0"/>
          </a:p>
        </p:txBody>
      </p:sp>
      <p:sp>
        <p:nvSpPr>
          <p:cNvPr id="24" name="Shape 19"/>
          <p:cNvSpPr/>
          <p:nvPr/>
        </p:nvSpPr>
        <p:spPr>
          <a:xfrm>
            <a:off x="7562088" y="5294376"/>
            <a:ext cx="1572768" cy="274320"/>
          </a:xfrm>
          <a:prstGeom prst="roundRect">
            <a:avLst>
              <a:gd name="adj" fmla="val 50000"/>
            </a:avLst>
          </a:prstGeom>
          <a:solidFill>
            <a:srgbClr val="56634E"/>
          </a:solidFill>
          <a:ln w="12700">
            <a:solidFill>
              <a:srgbClr val="56634E">
                <a:alpha val="0"/>
              </a:srgbClr>
            </a:solidFill>
            <a:prstDash val="solid"/>
          </a:ln>
        </p:spPr>
      </p:sp>
      <p:sp>
        <p:nvSpPr>
          <p:cNvPr id="25" name="Text 20"/>
          <p:cNvSpPr/>
          <p:nvPr/>
        </p:nvSpPr>
        <p:spPr>
          <a:xfrm>
            <a:off x="7644384" y="5312664"/>
            <a:ext cx="1408176" cy="237744"/>
          </a:xfrm>
          <a:prstGeom prst="rect">
            <a:avLst/>
          </a:prstGeom>
          <a:noFill/>
          <a:ln/>
        </p:spPr>
        <p:txBody>
          <a:bodyPr wrap="square" lIns="0" tIns="0" rIns="0" bIns="0" rtlCol="0" anchor="ctr">
            <a:normAutofit/>
          </a:bodyPr>
          <a:lstStyle/>
          <a:p>
            <a:pPr algn="ctr" indent="0" marL="0">
              <a:buNone/>
            </a:pPr>
            <a:r>
              <a:rPr lang="en-US" sz="880" b="1" dirty="0">
                <a:solidFill>
                  <a:srgbClr val="F4F0E6"/>
                </a:solidFill>
                <a:latin typeface="Inter" pitchFamily="34" charset="0"/>
                <a:ea typeface="Inter" pitchFamily="34" charset="-122"/>
                <a:cs typeface="Inter" pitchFamily="34" charset="-120"/>
              </a:rPr>
              <a:t>MOLAYA BİR +</a:t>
            </a:r>
            <a:endParaRPr lang="en-US" sz="880" dirty="0"/>
          </a:p>
        </p:txBody>
      </p:sp>
      <p:sp>
        <p:nvSpPr>
          <p:cNvPr id="26" name="Shape 21"/>
          <p:cNvSpPr/>
          <p:nvPr/>
        </p:nvSpPr>
        <p:spPr>
          <a:xfrm>
            <a:off x="594360" y="6053328"/>
            <a:ext cx="1389888" cy="310896"/>
          </a:xfrm>
          <a:prstGeom prst="roundRect">
            <a:avLst>
              <a:gd name="adj" fmla="val 50000"/>
            </a:avLst>
          </a:prstGeom>
          <a:solidFill>
            <a:srgbClr val="EEF1E7"/>
          </a:solidFill>
          <a:ln w="12700">
            <a:solidFill>
              <a:srgbClr val="EEF1E7">
                <a:alpha val="0"/>
              </a:srgbClr>
            </a:solidFill>
            <a:prstDash val="solid"/>
          </a:ln>
        </p:spPr>
      </p:sp>
      <p:sp>
        <p:nvSpPr>
          <p:cNvPr id="27" name="Text 22"/>
          <p:cNvSpPr/>
          <p:nvPr/>
        </p:nvSpPr>
        <p:spPr>
          <a:xfrm>
            <a:off x="676656" y="6071616"/>
            <a:ext cx="1225296" cy="274320"/>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TIBBİ İDDİA YOK</a:t>
            </a:r>
            <a:endParaRPr lang="en-US" sz="880" dirty="0"/>
          </a:p>
        </p:txBody>
      </p:sp>
      <p:sp>
        <p:nvSpPr>
          <p:cNvPr id="28" name="Shape 23"/>
          <p:cNvSpPr/>
          <p:nvPr/>
        </p:nvSpPr>
        <p:spPr>
          <a:xfrm>
            <a:off x="2148840" y="6053328"/>
            <a:ext cx="1325880" cy="310896"/>
          </a:xfrm>
          <a:prstGeom prst="roundRect">
            <a:avLst>
              <a:gd name="adj" fmla="val 50000"/>
            </a:avLst>
          </a:prstGeom>
          <a:solidFill>
            <a:srgbClr val="EEF1E7"/>
          </a:solidFill>
          <a:ln w="12700">
            <a:solidFill>
              <a:srgbClr val="EEF1E7">
                <a:alpha val="0"/>
              </a:srgbClr>
            </a:solidFill>
            <a:prstDash val="solid"/>
          </a:ln>
        </p:spPr>
      </p:sp>
      <p:sp>
        <p:nvSpPr>
          <p:cNvPr id="29" name="Text 24"/>
          <p:cNvSpPr/>
          <p:nvPr/>
        </p:nvSpPr>
        <p:spPr>
          <a:xfrm>
            <a:off x="2231136" y="6071616"/>
            <a:ext cx="1161288" cy="274320"/>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DEMO PRODUCT</a:t>
            </a:r>
            <a:endParaRPr lang="en-US" sz="880" dirty="0"/>
          </a:p>
        </p:txBody>
      </p:sp>
      <p:sp>
        <p:nvSpPr>
          <p:cNvPr id="30" name="Text 25"/>
          <p:cNvSpPr/>
          <p:nvPr/>
        </p:nvSpPr>
        <p:spPr>
          <a:xfrm>
            <a:off x="3694176" y="6044184"/>
            <a:ext cx="6309360" cy="274320"/>
          </a:xfrm>
          <a:prstGeom prst="rect">
            <a:avLst/>
          </a:prstGeom>
          <a:noFill/>
          <a:ln/>
        </p:spPr>
        <p:txBody>
          <a:bodyPr wrap="square" lIns="0" tIns="0" rIns="0" bIns="0" rtlCol="0" anchor="ctr">
            <a:normAutofit/>
          </a:bodyPr>
          <a:lstStyle/>
          <a:p>
            <a:pPr algn="l" indent="0" marL="0">
              <a:buNone/>
            </a:pPr>
            <a:r>
              <a:rPr lang="en-US" sz="1000" dirty="0">
                <a:solidFill>
                  <a:srgbClr val="6B675F"/>
                </a:solidFill>
                <a:latin typeface="Inter" pitchFamily="34" charset="0"/>
                <a:ea typeface="Inter" pitchFamily="34" charset="-122"/>
                <a:cs typeface="Inter" pitchFamily="34" charset="-120"/>
              </a:rPr>
              <a:t>Fiyatlar ve örnek ürünler ön lansman / demo senaryosu olarak ele alınır.</a:t>
            </a:r>
            <a:endParaRPr lang="en-US" sz="100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8D8A80"/>
                </a:solidFill>
                <a:latin typeface="Inter"/>
                <a:ea typeface="Inter"/>
                <a:cs typeface="Inter"/>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621792"/>
            <a:ext cx="4480560" cy="237744"/>
          </a:xfrm>
          <a:prstGeom prst="rect">
            <a:avLst/>
          </a:prstGeom>
          <a:noFill/>
          <a:ln/>
        </p:spPr>
        <p:txBody>
          <a:bodyPr wrap="square" lIns="0" tIns="0" rIns="0" bIns="0" rtlCol="0" anchor="ctr">
            <a:normAutofit/>
          </a:bodyPr>
          <a:lstStyle/>
          <a:p>
            <a:pPr algn="l" indent="0" marL="0">
              <a:buNone/>
            </a:pPr>
            <a:r>
              <a:rPr lang="en-US" sz="900" b="1" spc="125" kern="0" dirty="0">
                <a:solidFill>
                  <a:srgbClr val="68734B"/>
                </a:solidFill>
                <a:latin typeface="Inter" pitchFamily="34" charset="0"/>
                <a:ea typeface="Inter" pitchFamily="34" charset="-122"/>
                <a:cs typeface="Inter" pitchFamily="34" charset="-120"/>
              </a:rPr>
              <a:t>02 / MARKA KIMLIĞI VE TASARIM DILI</a:t>
            </a:r>
            <a:endParaRPr lang="en-US" sz="900" dirty="0"/>
          </a:p>
        </p:txBody>
      </p:sp>
      <p:sp>
        <p:nvSpPr>
          <p:cNvPr id="3" name="Text 1"/>
          <p:cNvSpPr/>
          <p:nvPr/>
        </p:nvSpPr>
        <p:spPr>
          <a:xfrm>
            <a:off x="594360" y="941832"/>
            <a:ext cx="10789920" cy="658368"/>
          </a:xfrm>
          <a:prstGeom prst="rect">
            <a:avLst/>
          </a:prstGeom>
          <a:noFill/>
          <a:ln/>
        </p:spPr>
        <p:txBody>
          <a:bodyPr wrap="square" lIns="0" tIns="0" rIns="0" bIns="0" rtlCol="0" anchor="ctr">
            <a:normAutofit/>
          </a:bodyPr>
          <a:lstStyle/>
          <a:p>
            <a:pPr algn="l" indent="0" marL="0">
              <a:buNone/>
            </a:pPr>
            <a:r>
              <a:rPr lang="en-US" sz="2800" b="1" dirty="0">
                <a:solidFill>
                  <a:srgbClr val="34422D"/>
                </a:solidFill>
                <a:latin typeface="Inter" pitchFamily="34" charset="0"/>
                <a:ea typeface="Inter" pitchFamily="34" charset="-122"/>
                <a:cs typeface="Inter" pitchFamily="34" charset="-120"/>
              </a:rPr>
              <a:t>Premium wellness, ama “wellness klişesi” değil.</a:t>
            </a:r>
            <a:endParaRPr lang="en-US" sz="2800" dirty="0"/>
          </a:p>
        </p:txBody>
      </p:sp>
      <p:sp>
        <p:nvSpPr>
          <p:cNvPr id="4" name="Text 2"/>
          <p:cNvSpPr/>
          <p:nvPr/>
        </p:nvSpPr>
        <p:spPr>
          <a:xfrm>
            <a:off x="594360" y="1664208"/>
            <a:ext cx="10607040" cy="457200"/>
          </a:xfrm>
          <a:prstGeom prst="rect">
            <a:avLst/>
          </a:prstGeom>
          <a:noFill/>
          <a:ln/>
        </p:spPr>
        <p:txBody>
          <a:bodyPr wrap="square" lIns="0" tIns="0" rIns="0" bIns="0" rtlCol="0" anchor="ctr">
            <a:normAutofit/>
          </a:bodyPr>
          <a:lstStyle/>
          <a:p>
            <a:pPr algn="l" indent="0" marL="0">
              <a:buNone/>
            </a:pPr>
            <a:r>
              <a:rPr lang="en-US" sz="1250" dirty="0">
                <a:solidFill>
                  <a:srgbClr val="6B675F"/>
                </a:solidFill>
                <a:latin typeface="Inter" pitchFamily="34" charset="0"/>
                <a:ea typeface="Inter" pitchFamily="34" charset="-122"/>
                <a:cs typeface="Inter" pitchFamily="34" charset="-120"/>
              </a:rPr>
              <a:t>Renk, tipografi ve fotoğraf dili aynı editoryal sistem içinde çalışıyor.</a:t>
            </a:r>
            <a:endParaRPr lang="en-US" sz="1250" dirty="0"/>
          </a:p>
        </p:txBody>
      </p:sp>
      <p:sp>
        <p:nvSpPr>
          <p:cNvPr id="5" name="Shape 3"/>
          <p:cNvSpPr/>
          <p:nvPr/>
        </p:nvSpPr>
        <p:spPr>
          <a:xfrm>
            <a:off x="594360" y="2514600"/>
            <a:ext cx="1335024" cy="1234440"/>
          </a:xfrm>
          <a:prstGeom prst="roundRect">
            <a:avLst>
              <a:gd name="adj" fmla="val 17778"/>
            </a:avLst>
          </a:prstGeom>
          <a:solidFill>
            <a:srgbClr val="34422D"/>
          </a:solidFill>
          <a:ln w="12700">
            <a:solidFill>
              <a:srgbClr val="34422D">
                <a:alpha val="0"/>
              </a:srgbClr>
            </a:solidFill>
            <a:prstDash val="solid"/>
          </a:ln>
        </p:spPr>
      </p:sp>
      <p:sp>
        <p:nvSpPr>
          <p:cNvPr id="6" name="Text 4"/>
          <p:cNvSpPr/>
          <p:nvPr/>
        </p:nvSpPr>
        <p:spPr>
          <a:xfrm>
            <a:off x="594360" y="3858768"/>
            <a:ext cx="1335024" cy="274320"/>
          </a:xfrm>
          <a:prstGeom prst="rect">
            <a:avLst/>
          </a:prstGeom>
          <a:noFill/>
          <a:ln/>
        </p:spPr>
        <p:txBody>
          <a:bodyPr wrap="square" lIns="0" tIns="0" rIns="0" bIns="0" rtlCol="0" anchor="ctr">
            <a:normAutofit/>
          </a:bodyPr>
          <a:lstStyle/>
          <a:p>
            <a:pPr algn="ctr" indent="0" marL="0">
              <a:buNone/>
            </a:pPr>
            <a:r>
              <a:rPr lang="en-US" sz="900" b="1" dirty="0">
                <a:solidFill>
                  <a:srgbClr val="6B675F"/>
                </a:solidFill>
                <a:latin typeface="Inter" pitchFamily="34" charset="0"/>
                <a:ea typeface="Inter" pitchFamily="34" charset="-122"/>
                <a:cs typeface="Inter" pitchFamily="34" charset="-120"/>
              </a:rPr>
              <a:t>Koyu Zeytin</a:t>
            </a:r>
            <a:endParaRPr lang="en-US" sz="900" dirty="0"/>
          </a:p>
        </p:txBody>
      </p:sp>
      <p:sp>
        <p:nvSpPr>
          <p:cNvPr id="7" name="Shape 5"/>
          <p:cNvSpPr/>
          <p:nvPr/>
        </p:nvSpPr>
        <p:spPr>
          <a:xfrm>
            <a:off x="2194560" y="2514600"/>
            <a:ext cx="1335024" cy="1234440"/>
          </a:xfrm>
          <a:prstGeom prst="roundRect">
            <a:avLst>
              <a:gd name="adj" fmla="val 17778"/>
            </a:avLst>
          </a:prstGeom>
          <a:solidFill>
            <a:srgbClr val="F4F0E6"/>
          </a:solidFill>
          <a:ln w="12700">
            <a:solidFill>
              <a:srgbClr val="E3DEC3"/>
            </a:solidFill>
            <a:prstDash val="solid"/>
          </a:ln>
        </p:spPr>
      </p:sp>
      <p:sp>
        <p:nvSpPr>
          <p:cNvPr id="8" name="Text 6"/>
          <p:cNvSpPr/>
          <p:nvPr/>
        </p:nvSpPr>
        <p:spPr>
          <a:xfrm>
            <a:off x="2194560" y="3858768"/>
            <a:ext cx="1335024" cy="274320"/>
          </a:xfrm>
          <a:prstGeom prst="rect">
            <a:avLst/>
          </a:prstGeom>
          <a:noFill/>
          <a:ln/>
        </p:spPr>
        <p:txBody>
          <a:bodyPr wrap="square" lIns="0" tIns="0" rIns="0" bIns="0" rtlCol="0" anchor="ctr">
            <a:normAutofit/>
          </a:bodyPr>
          <a:lstStyle/>
          <a:p>
            <a:pPr algn="ctr" indent="0" marL="0">
              <a:buNone/>
            </a:pPr>
            <a:r>
              <a:rPr lang="en-US" sz="900" b="1" dirty="0">
                <a:solidFill>
                  <a:srgbClr val="6B675F"/>
                </a:solidFill>
                <a:latin typeface="Inter" pitchFamily="34" charset="0"/>
                <a:ea typeface="Inter" pitchFamily="34" charset="-122"/>
                <a:cs typeface="Inter" pitchFamily="34" charset="-120"/>
              </a:rPr>
              <a:t>Sıcak Krem</a:t>
            </a:r>
            <a:endParaRPr lang="en-US" sz="900" dirty="0"/>
          </a:p>
        </p:txBody>
      </p:sp>
      <p:sp>
        <p:nvSpPr>
          <p:cNvPr id="9" name="Shape 7"/>
          <p:cNvSpPr/>
          <p:nvPr/>
        </p:nvSpPr>
        <p:spPr>
          <a:xfrm>
            <a:off x="3794760" y="2514600"/>
            <a:ext cx="1335024" cy="1234440"/>
          </a:xfrm>
          <a:prstGeom prst="roundRect">
            <a:avLst>
              <a:gd name="adj" fmla="val 17778"/>
            </a:avLst>
          </a:prstGeom>
          <a:solidFill>
            <a:srgbClr val="AEB997"/>
          </a:solidFill>
          <a:ln w="12700">
            <a:solidFill>
              <a:srgbClr val="AEB997">
                <a:alpha val="0"/>
              </a:srgbClr>
            </a:solidFill>
            <a:prstDash val="solid"/>
          </a:ln>
        </p:spPr>
      </p:sp>
      <p:sp>
        <p:nvSpPr>
          <p:cNvPr id="10" name="Text 8"/>
          <p:cNvSpPr/>
          <p:nvPr/>
        </p:nvSpPr>
        <p:spPr>
          <a:xfrm>
            <a:off x="3794760" y="3858768"/>
            <a:ext cx="1335024" cy="274320"/>
          </a:xfrm>
          <a:prstGeom prst="rect">
            <a:avLst/>
          </a:prstGeom>
          <a:noFill/>
          <a:ln/>
        </p:spPr>
        <p:txBody>
          <a:bodyPr wrap="square" lIns="0" tIns="0" rIns="0" bIns="0" rtlCol="0" anchor="ctr">
            <a:normAutofit/>
          </a:bodyPr>
          <a:lstStyle/>
          <a:p>
            <a:pPr algn="ctr" indent="0" marL="0">
              <a:buNone/>
            </a:pPr>
            <a:r>
              <a:rPr lang="en-US" sz="900" b="1" dirty="0">
                <a:solidFill>
                  <a:srgbClr val="6B675F"/>
                </a:solidFill>
                <a:latin typeface="Inter" pitchFamily="34" charset="0"/>
                <a:ea typeface="Inter" pitchFamily="34" charset="-122"/>
                <a:cs typeface="Inter" pitchFamily="34" charset="-120"/>
              </a:rPr>
              <a:t>Adaçayı</a:t>
            </a:r>
            <a:endParaRPr lang="en-US" sz="900" dirty="0"/>
          </a:p>
        </p:txBody>
      </p:sp>
      <p:sp>
        <p:nvSpPr>
          <p:cNvPr id="11" name="Shape 9"/>
          <p:cNvSpPr/>
          <p:nvPr/>
        </p:nvSpPr>
        <p:spPr>
          <a:xfrm>
            <a:off x="5394960" y="2514600"/>
            <a:ext cx="1335024" cy="1234440"/>
          </a:xfrm>
          <a:prstGeom prst="roundRect">
            <a:avLst>
              <a:gd name="adj" fmla="val 17778"/>
            </a:avLst>
          </a:prstGeom>
          <a:solidFill>
            <a:srgbClr val="D8B98C"/>
          </a:solidFill>
          <a:ln w="12700">
            <a:solidFill>
              <a:srgbClr val="D8B98C">
                <a:alpha val="0"/>
              </a:srgbClr>
            </a:solidFill>
            <a:prstDash val="solid"/>
          </a:ln>
        </p:spPr>
      </p:sp>
      <p:sp>
        <p:nvSpPr>
          <p:cNvPr id="12" name="Text 10"/>
          <p:cNvSpPr/>
          <p:nvPr/>
        </p:nvSpPr>
        <p:spPr>
          <a:xfrm>
            <a:off x="5394960" y="3858768"/>
            <a:ext cx="1335024" cy="274320"/>
          </a:xfrm>
          <a:prstGeom prst="rect">
            <a:avLst/>
          </a:prstGeom>
          <a:noFill/>
          <a:ln/>
        </p:spPr>
        <p:txBody>
          <a:bodyPr wrap="square" lIns="0" tIns="0" rIns="0" bIns="0" rtlCol="0" anchor="ctr">
            <a:normAutofit/>
          </a:bodyPr>
          <a:lstStyle/>
          <a:p>
            <a:pPr algn="ctr" indent="0" marL="0">
              <a:buNone/>
            </a:pPr>
            <a:r>
              <a:rPr lang="en-US" sz="900" b="1" dirty="0">
                <a:solidFill>
                  <a:srgbClr val="6B675F"/>
                </a:solidFill>
                <a:latin typeface="Inter" pitchFamily="34" charset="0"/>
                <a:ea typeface="Inter" pitchFamily="34" charset="-122"/>
                <a:cs typeface="Inter" pitchFamily="34" charset="-120"/>
              </a:rPr>
              <a:t>Sıcak Latte</a:t>
            </a:r>
            <a:endParaRPr lang="en-US" sz="900" dirty="0"/>
          </a:p>
        </p:txBody>
      </p:sp>
      <p:sp>
        <p:nvSpPr>
          <p:cNvPr id="13" name="Text 11"/>
          <p:cNvSpPr/>
          <p:nvPr/>
        </p:nvSpPr>
        <p:spPr>
          <a:xfrm>
            <a:off x="594360" y="4443984"/>
            <a:ext cx="1371600" cy="274320"/>
          </a:xfrm>
          <a:prstGeom prst="rect">
            <a:avLst/>
          </a:prstGeom>
          <a:noFill/>
          <a:ln/>
        </p:spPr>
        <p:txBody>
          <a:bodyPr wrap="square" lIns="0" tIns="0" rIns="0" bIns="0" rtlCol="0" anchor="ctr">
            <a:normAutofit/>
          </a:bodyPr>
          <a:lstStyle/>
          <a:p>
            <a:pPr algn="l" indent="0" marL="0">
              <a:buNone/>
            </a:pPr>
            <a:r>
              <a:rPr lang="en-US" sz="1000" b="1" dirty="0">
                <a:solidFill>
                  <a:srgbClr val="68734B"/>
                </a:solidFill>
                <a:latin typeface="Inter" pitchFamily="34" charset="0"/>
                <a:ea typeface="Inter" pitchFamily="34" charset="-122"/>
                <a:cs typeface="Inter" pitchFamily="34" charset="-120"/>
              </a:rPr>
              <a:t>Tone of Voice</a:t>
            </a:r>
            <a:endParaRPr lang="en-US" sz="1000" dirty="0"/>
          </a:p>
        </p:txBody>
      </p:sp>
      <p:sp>
        <p:nvSpPr>
          <p:cNvPr id="14" name="Shape 12"/>
          <p:cNvSpPr/>
          <p:nvPr/>
        </p:nvSpPr>
        <p:spPr>
          <a:xfrm>
            <a:off x="594360" y="4855464"/>
            <a:ext cx="73152" cy="73152"/>
          </a:xfrm>
          <a:prstGeom prst="ellipse">
            <a:avLst/>
          </a:prstGeom>
          <a:solidFill>
            <a:srgbClr val="68734B"/>
          </a:solidFill>
          <a:ln w="12700">
            <a:solidFill>
              <a:srgbClr val="68734B">
                <a:alpha val="0"/>
              </a:srgbClr>
            </a:solidFill>
            <a:prstDash val="solid"/>
          </a:ln>
        </p:spPr>
      </p:sp>
      <p:sp>
        <p:nvSpPr>
          <p:cNvPr id="15" name="Text 13"/>
          <p:cNvSpPr/>
          <p:nvPr/>
        </p:nvSpPr>
        <p:spPr>
          <a:xfrm>
            <a:off x="758952" y="4782312"/>
            <a:ext cx="4590288" cy="274320"/>
          </a:xfrm>
          <a:prstGeom prst="rect">
            <a:avLst/>
          </a:prstGeom>
          <a:noFill/>
          <a:ln/>
        </p:spPr>
        <p:txBody>
          <a:bodyPr wrap="square" lIns="0" tIns="0" rIns="0" bIns="0" rtlCol="0" anchor="ctr">
            <a:normAutofit/>
          </a:bodyPr>
          <a:lstStyle/>
          <a:p>
            <a:pPr algn="l" indent="0" marL="0">
              <a:buNone/>
            </a:pPr>
            <a:r>
              <a:rPr lang="en-US" sz="1100" dirty="0">
                <a:solidFill>
                  <a:srgbClr val="34422D"/>
                </a:solidFill>
                <a:latin typeface="Inter" pitchFamily="34" charset="0"/>
                <a:ea typeface="Inter" pitchFamily="34" charset="-122"/>
                <a:cs typeface="Inter" pitchFamily="34" charset="-120"/>
              </a:rPr>
              <a:t>Kısa ve öz; büyük, kendinden emin başlıklar.</a:t>
            </a:r>
            <a:endParaRPr lang="en-US" sz="1100" dirty="0"/>
          </a:p>
        </p:txBody>
      </p:sp>
      <p:sp>
        <p:nvSpPr>
          <p:cNvPr id="16" name="Shape 14"/>
          <p:cNvSpPr/>
          <p:nvPr/>
        </p:nvSpPr>
        <p:spPr>
          <a:xfrm>
            <a:off x="594360" y="5248656"/>
            <a:ext cx="73152" cy="73152"/>
          </a:xfrm>
          <a:prstGeom prst="ellipse">
            <a:avLst/>
          </a:prstGeom>
          <a:solidFill>
            <a:srgbClr val="68734B"/>
          </a:solidFill>
          <a:ln w="12700">
            <a:solidFill>
              <a:srgbClr val="68734B">
                <a:alpha val="0"/>
              </a:srgbClr>
            </a:solidFill>
            <a:prstDash val="solid"/>
          </a:ln>
        </p:spPr>
      </p:sp>
      <p:sp>
        <p:nvSpPr>
          <p:cNvPr id="17" name="Text 15"/>
          <p:cNvSpPr/>
          <p:nvPr/>
        </p:nvSpPr>
        <p:spPr>
          <a:xfrm>
            <a:off x="758952" y="5175504"/>
            <a:ext cx="4590288" cy="274320"/>
          </a:xfrm>
          <a:prstGeom prst="rect">
            <a:avLst/>
          </a:prstGeom>
          <a:noFill/>
          <a:ln/>
        </p:spPr>
        <p:txBody>
          <a:bodyPr wrap="square" lIns="0" tIns="0" rIns="0" bIns="0" rtlCol="0" anchor="ctr">
            <a:normAutofit/>
          </a:bodyPr>
          <a:lstStyle/>
          <a:p>
            <a:pPr algn="l" indent="0" marL="0">
              <a:buNone/>
            </a:pPr>
            <a:r>
              <a:rPr lang="en-US" sz="1100" dirty="0">
                <a:solidFill>
                  <a:srgbClr val="34422D"/>
                </a:solidFill>
                <a:latin typeface="Inter" pitchFamily="34" charset="0"/>
                <a:ea typeface="Inter" pitchFamily="34" charset="-122"/>
                <a:cs typeface="Inter" pitchFamily="34" charset="-120"/>
              </a:rPr>
              <a:t>Sıcak ve saygılı; abartısız, sakin bir premium his.</a:t>
            </a:r>
            <a:endParaRPr lang="en-US" sz="1100" dirty="0"/>
          </a:p>
        </p:txBody>
      </p:sp>
      <p:sp>
        <p:nvSpPr>
          <p:cNvPr id="18" name="Shape 16"/>
          <p:cNvSpPr/>
          <p:nvPr/>
        </p:nvSpPr>
        <p:spPr>
          <a:xfrm>
            <a:off x="594360" y="5641848"/>
            <a:ext cx="73152" cy="73152"/>
          </a:xfrm>
          <a:prstGeom prst="ellipse">
            <a:avLst/>
          </a:prstGeom>
          <a:solidFill>
            <a:srgbClr val="68734B"/>
          </a:solidFill>
          <a:ln w="12700">
            <a:solidFill>
              <a:srgbClr val="68734B">
                <a:alpha val="0"/>
              </a:srgbClr>
            </a:solidFill>
            <a:prstDash val="solid"/>
          </a:ln>
        </p:spPr>
      </p:sp>
      <p:sp>
        <p:nvSpPr>
          <p:cNvPr id="19" name="Text 17"/>
          <p:cNvSpPr/>
          <p:nvPr/>
        </p:nvSpPr>
        <p:spPr>
          <a:xfrm>
            <a:off x="758952" y="5568696"/>
            <a:ext cx="4590288" cy="274320"/>
          </a:xfrm>
          <a:prstGeom prst="rect">
            <a:avLst/>
          </a:prstGeom>
          <a:noFill/>
          <a:ln/>
        </p:spPr>
        <p:txBody>
          <a:bodyPr wrap="square" lIns="0" tIns="0" rIns="0" bIns="0" rtlCol="0" anchor="ctr">
            <a:normAutofit/>
          </a:bodyPr>
          <a:lstStyle/>
          <a:p>
            <a:pPr algn="l" indent="0" marL="0">
              <a:buNone/>
            </a:pPr>
            <a:r>
              <a:rPr lang="en-US" sz="1100" dirty="0">
                <a:solidFill>
                  <a:srgbClr val="34422D"/>
                </a:solidFill>
                <a:latin typeface="Inter" pitchFamily="34" charset="0"/>
                <a:ea typeface="Inter" pitchFamily="34" charset="-122"/>
                <a:cs typeface="Inter" pitchFamily="34" charset="-120"/>
              </a:rPr>
              <a:t>Doğal fotoğrafçılık; sıcak taş, ahşap ve botanik gölge.</a:t>
            </a:r>
            <a:endParaRPr lang="en-US" sz="1100" dirty="0"/>
          </a:p>
        </p:txBody>
      </p:sp>
      <p:sp>
        <p:nvSpPr>
          <p:cNvPr id="20" name="Shape 18"/>
          <p:cNvSpPr/>
          <p:nvPr/>
        </p:nvSpPr>
        <p:spPr>
          <a:xfrm>
            <a:off x="6766560" y="2423160"/>
            <a:ext cx="4754880" cy="3566160"/>
          </a:xfrm>
          <a:prstGeom prst="roundRect">
            <a:avLst>
              <a:gd name="adj" fmla="val 7692"/>
            </a:avLst>
          </a:prstGeom>
          <a:solidFill>
            <a:srgbClr val="FAF7EF"/>
          </a:solidFill>
          <a:ln w="12700">
            <a:solidFill>
              <a:srgbClr val="E3DEC3"/>
            </a:solidFill>
            <a:prstDash val="solid"/>
          </a:ln>
        </p:spPr>
      </p:sp>
      <p:pic>
        <p:nvPicPr>
          <p:cNvPr id="21" name="Image 0" descr="/mnt/data/a_minimalist_warm_high_end_product_still_life_sc.png">    </p:cNvPr>
          <p:cNvPicPr>
            <a:picLocks noChangeAspect="1"/>
          </p:cNvPicPr>
          <p:nvPr/>
        </p:nvPicPr>
        <p:blipFill>
          <a:blip r:embed="rId1"/>
          <a:stretch>
            <a:fillRect/>
          </a:stretch>
        </p:blipFill>
        <p:spPr>
          <a:xfrm>
            <a:off x="6903720" y="2560320"/>
            <a:ext cx="1874520" cy="2331720"/>
          </a:xfrm>
          <a:prstGeom prst="rect">
            <a:avLst/>
          </a:prstGeom>
        </p:spPr>
      </p:pic>
      <p:sp>
        <p:nvSpPr>
          <p:cNvPr id="22" name="Shape 19"/>
          <p:cNvSpPr/>
          <p:nvPr/>
        </p:nvSpPr>
        <p:spPr>
          <a:xfrm>
            <a:off x="9015984" y="2761488"/>
            <a:ext cx="987552" cy="310896"/>
          </a:xfrm>
          <a:prstGeom prst="roundRect">
            <a:avLst>
              <a:gd name="adj" fmla="val 50000"/>
            </a:avLst>
          </a:prstGeom>
          <a:solidFill>
            <a:srgbClr val="34422D"/>
          </a:solidFill>
          <a:ln w="12700">
            <a:solidFill>
              <a:srgbClr val="34422D">
                <a:alpha val="0"/>
              </a:srgbClr>
            </a:solidFill>
            <a:prstDash val="solid"/>
          </a:ln>
        </p:spPr>
      </p:sp>
      <p:sp>
        <p:nvSpPr>
          <p:cNvPr id="23" name="Text 20"/>
          <p:cNvSpPr/>
          <p:nvPr/>
        </p:nvSpPr>
        <p:spPr>
          <a:xfrm>
            <a:off x="9098280" y="2779776"/>
            <a:ext cx="822960" cy="274320"/>
          </a:xfrm>
          <a:prstGeom prst="rect">
            <a:avLst/>
          </a:prstGeom>
          <a:noFill/>
          <a:ln/>
        </p:spPr>
        <p:txBody>
          <a:bodyPr wrap="square" lIns="0" tIns="0" rIns="0" bIns="0" rtlCol="0" anchor="ctr">
            <a:normAutofit/>
          </a:bodyPr>
          <a:lstStyle/>
          <a:p>
            <a:pPr algn="ctr" indent="0" marL="0">
              <a:buNone/>
            </a:pPr>
            <a:r>
              <a:rPr lang="en-US" sz="880" b="1" dirty="0">
                <a:solidFill>
                  <a:srgbClr val="F4F0E6"/>
                </a:solidFill>
                <a:latin typeface="Inter" pitchFamily="34" charset="0"/>
                <a:ea typeface="Inter" pitchFamily="34" charset="-122"/>
                <a:cs typeface="Inter" pitchFamily="34" charset="-120"/>
              </a:rPr>
              <a:t>ANA FİKİR</a:t>
            </a:r>
            <a:endParaRPr lang="en-US" sz="880" dirty="0"/>
          </a:p>
        </p:txBody>
      </p:sp>
      <p:sp>
        <p:nvSpPr>
          <p:cNvPr id="24" name="Text 21"/>
          <p:cNvSpPr/>
          <p:nvPr/>
        </p:nvSpPr>
        <p:spPr>
          <a:xfrm>
            <a:off x="9015984" y="3246120"/>
            <a:ext cx="1920240" cy="960120"/>
          </a:xfrm>
          <a:prstGeom prst="rect">
            <a:avLst/>
          </a:prstGeom>
          <a:noFill/>
          <a:ln/>
        </p:spPr>
        <p:txBody>
          <a:bodyPr wrap="square" lIns="0" tIns="0" rIns="0" bIns="0" rtlCol="0" anchor="ctr">
            <a:normAutofit/>
          </a:bodyPr>
          <a:lstStyle/>
          <a:p>
            <a:pPr algn="l" indent="0" marL="0">
              <a:buNone/>
            </a:pPr>
            <a:r>
              <a:rPr lang="en-US" sz="2400" b="1" dirty="0">
                <a:solidFill>
                  <a:srgbClr val="34422D"/>
                </a:solidFill>
                <a:latin typeface="Inter" pitchFamily="34" charset="0"/>
                <a:ea typeface="Inter" pitchFamily="34" charset="-122"/>
                <a:cs typeface="Inter" pitchFamily="34" charset="-120"/>
              </a:rPr>
              <a:t>İş gününe</a:t>
            </a:r>
            <a:endParaRPr lang="en-US" sz="2400" dirty="0"/>
          </a:p>
          <a:p>
            <a:pPr algn="l" indent="0" marL="0">
              <a:buNone/>
            </a:pPr>
            <a:r>
              <a:rPr lang="en-US" sz="2400" b="1" dirty="0">
                <a:solidFill>
                  <a:srgbClr val="34422D"/>
                </a:solidFill>
                <a:latin typeface="Inter" pitchFamily="34" charset="0"/>
                <a:ea typeface="Inter" pitchFamily="34" charset="-122"/>
                <a:cs typeface="Inter" pitchFamily="34" charset="-120"/>
              </a:rPr>
              <a:t>iyi bir +.</a:t>
            </a:r>
            <a:endParaRPr lang="en-US" sz="2400" dirty="0"/>
          </a:p>
        </p:txBody>
      </p:sp>
      <p:sp>
        <p:nvSpPr>
          <p:cNvPr id="25" name="Text 22"/>
          <p:cNvSpPr/>
          <p:nvPr/>
        </p:nvSpPr>
        <p:spPr>
          <a:xfrm>
            <a:off x="9015984" y="4352544"/>
            <a:ext cx="1920240" cy="585216"/>
          </a:xfrm>
          <a:prstGeom prst="rect">
            <a:avLst/>
          </a:prstGeom>
          <a:noFill/>
          <a:ln/>
        </p:spPr>
        <p:txBody>
          <a:bodyPr wrap="square" lIns="0" tIns="0" rIns="0" bIns="0" rtlCol="0" anchor="ctr">
            <a:normAutofit/>
          </a:bodyPr>
          <a:lstStyle/>
          <a:p>
            <a:pPr algn="l" indent="0" marL="0">
              <a:buNone/>
            </a:pPr>
            <a:r>
              <a:rPr lang="en-US" sz="1050" dirty="0">
                <a:solidFill>
                  <a:srgbClr val="6B675F"/>
                </a:solidFill>
                <a:latin typeface="Inter" pitchFamily="34" charset="0"/>
                <a:ea typeface="Inter" pitchFamily="34" charset="-122"/>
                <a:cs typeface="Inter" pitchFamily="34" charset="-120"/>
              </a:rPr>
              <a:t>Koyu zeytin + sıcak krem + geniş negatif alan.</a:t>
            </a:r>
            <a:endParaRPr lang="en-US" sz="1050" dirty="0"/>
          </a:p>
        </p:txBody>
      </p:sp>
      <p:sp>
        <p:nvSpPr>
          <p:cNvPr id="26" name="Shape 23"/>
          <p:cNvSpPr/>
          <p:nvPr/>
        </p:nvSpPr>
        <p:spPr>
          <a:xfrm>
            <a:off x="9015984" y="5148072"/>
            <a:ext cx="950976" cy="310896"/>
          </a:xfrm>
          <a:prstGeom prst="roundRect">
            <a:avLst>
              <a:gd name="adj" fmla="val 50000"/>
            </a:avLst>
          </a:prstGeom>
          <a:solidFill>
            <a:srgbClr val="E9EDE2"/>
          </a:solidFill>
          <a:ln w="12700">
            <a:solidFill>
              <a:srgbClr val="E9EDE2">
                <a:alpha val="0"/>
              </a:srgbClr>
            </a:solidFill>
            <a:prstDash val="solid"/>
          </a:ln>
        </p:spPr>
      </p:sp>
      <p:sp>
        <p:nvSpPr>
          <p:cNvPr id="27" name="Text 24"/>
          <p:cNvSpPr/>
          <p:nvPr/>
        </p:nvSpPr>
        <p:spPr>
          <a:xfrm>
            <a:off x="9098280" y="5166360"/>
            <a:ext cx="786384" cy="274320"/>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EDITORIAL</a:t>
            </a:r>
            <a:endParaRPr lang="en-US" sz="880" dirty="0"/>
          </a:p>
        </p:txBody>
      </p:sp>
      <p:sp>
        <p:nvSpPr>
          <p:cNvPr id="28" name="Shape 25"/>
          <p:cNvSpPr/>
          <p:nvPr/>
        </p:nvSpPr>
        <p:spPr>
          <a:xfrm>
            <a:off x="10076688" y="5148072"/>
            <a:ext cx="768096" cy="310896"/>
          </a:xfrm>
          <a:prstGeom prst="roundRect">
            <a:avLst>
              <a:gd name="adj" fmla="val 50000"/>
            </a:avLst>
          </a:prstGeom>
          <a:solidFill>
            <a:srgbClr val="E9EDE2"/>
          </a:solidFill>
          <a:ln w="12700">
            <a:solidFill>
              <a:srgbClr val="E9EDE2">
                <a:alpha val="0"/>
              </a:srgbClr>
            </a:solidFill>
            <a:prstDash val="solid"/>
          </a:ln>
        </p:spPr>
      </p:sp>
      <p:sp>
        <p:nvSpPr>
          <p:cNvPr id="29" name="Text 26"/>
          <p:cNvSpPr/>
          <p:nvPr/>
        </p:nvSpPr>
        <p:spPr>
          <a:xfrm>
            <a:off x="10158984" y="5166360"/>
            <a:ext cx="603504" cy="274320"/>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URBAN</a:t>
            </a:r>
            <a:endParaRPr lang="en-US" sz="88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8D8A80"/>
                </a:solidFill>
                <a:latin typeface="Inter"/>
                <a:ea typeface="Inter"/>
                <a:cs typeface="Inter"/>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621792"/>
            <a:ext cx="4480560" cy="237744"/>
          </a:xfrm>
          <a:prstGeom prst="rect">
            <a:avLst/>
          </a:prstGeom>
          <a:noFill/>
          <a:ln/>
        </p:spPr>
        <p:txBody>
          <a:bodyPr wrap="square" lIns="0" tIns="0" rIns="0" bIns="0" rtlCol="0" anchor="ctr">
            <a:normAutofit/>
          </a:bodyPr>
          <a:lstStyle/>
          <a:p>
            <a:pPr algn="l" indent="0" marL="0">
              <a:buNone/>
            </a:pPr>
            <a:r>
              <a:rPr lang="en-US" sz="900" b="1" spc="125" kern="0" dirty="0">
                <a:solidFill>
                  <a:srgbClr val="68734B"/>
                </a:solidFill>
                <a:latin typeface="Inter" pitchFamily="34" charset="0"/>
                <a:ea typeface="Inter" pitchFamily="34" charset="-122"/>
                <a:cs typeface="Inter" pitchFamily="34" charset="-120"/>
              </a:rPr>
              <a:t>03 / SOSYAL MEDYA VITRINI</a:t>
            </a:r>
            <a:endParaRPr lang="en-US" sz="900" dirty="0"/>
          </a:p>
        </p:txBody>
      </p:sp>
      <p:sp>
        <p:nvSpPr>
          <p:cNvPr id="3" name="Text 1"/>
          <p:cNvSpPr/>
          <p:nvPr/>
        </p:nvSpPr>
        <p:spPr>
          <a:xfrm>
            <a:off x="594360" y="941832"/>
            <a:ext cx="10789920" cy="658368"/>
          </a:xfrm>
          <a:prstGeom prst="rect">
            <a:avLst/>
          </a:prstGeom>
          <a:noFill/>
          <a:ln/>
        </p:spPr>
        <p:txBody>
          <a:bodyPr wrap="square" lIns="0" tIns="0" rIns="0" bIns="0" rtlCol="0" anchor="ctr">
            <a:normAutofit/>
          </a:bodyPr>
          <a:lstStyle/>
          <a:p>
            <a:pPr algn="l" indent="0" marL="0">
              <a:buNone/>
            </a:pPr>
            <a:r>
              <a:rPr lang="en-US" sz="2800" b="1" dirty="0">
                <a:solidFill>
                  <a:srgbClr val="34422D"/>
                </a:solidFill>
                <a:latin typeface="Inter" pitchFamily="34" charset="0"/>
                <a:ea typeface="Inter" pitchFamily="34" charset="-122"/>
                <a:cs typeface="Inter" pitchFamily="34" charset="-120"/>
              </a:rPr>
              <a:t>Instagram için yalnızca içerik değil, bütün bir kampanya sistemi üretildi.</a:t>
            </a:r>
            <a:endParaRPr lang="en-US" sz="2800" dirty="0"/>
          </a:p>
        </p:txBody>
      </p:sp>
      <p:sp>
        <p:nvSpPr>
          <p:cNvPr id="4" name="Text 2"/>
          <p:cNvSpPr/>
          <p:nvPr/>
        </p:nvSpPr>
        <p:spPr>
          <a:xfrm>
            <a:off x="594360" y="1664208"/>
            <a:ext cx="10607040" cy="457200"/>
          </a:xfrm>
          <a:prstGeom prst="rect">
            <a:avLst/>
          </a:prstGeom>
          <a:noFill/>
          <a:ln/>
        </p:spPr>
        <p:txBody>
          <a:bodyPr wrap="square" lIns="0" tIns="0" rIns="0" bIns="0" rtlCol="0" anchor="ctr">
            <a:normAutofit/>
          </a:bodyPr>
          <a:lstStyle/>
          <a:p>
            <a:pPr algn="l" indent="0" marL="0">
              <a:buNone/>
            </a:pPr>
            <a:r>
              <a:rPr lang="en-US" sz="1250" dirty="0">
                <a:solidFill>
                  <a:srgbClr val="6B675F"/>
                </a:solidFill>
                <a:latin typeface="Inter" pitchFamily="34" charset="0"/>
                <a:ea typeface="Inter" pitchFamily="34" charset="-122"/>
                <a:cs typeface="Inter" pitchFamily="34" charset="-120"/>
              </a:rPr>
              <a:t>6 final post, 3 Story, 28 saniyelik Reels prototipi ve iki haftalık içerik takvimi.</a:t>
            </a:r>
            <a:endParaRPr lang="en-US" sz="1250" dirty="0"/>
          </a:p>
        </p:txBody>
      </p:sp>
      <p:sp>
        <p:nvSpPr>
          <p:cNvPr id="5" name="Shape 3"/>
          <p:cNvSpPr/>
          <p:nvPr/>
        </p:nvSpPr>
        <p:spPr>
          <a:xfrm>
            <a:off x="594360" y="2331720"/>
            <a:ext cx="5897880" cy="3886200"/>
          </a:xfrm>
          <a:prstGeom prst="roundRect">
            <a:avLst>
              <a:gd name="adj" fmla="val 6118"/>
            </a:avLst>
          </a:prstGeom>
          <a:solidFill>
            <a:srgbClr val="FFFFFF"/>
          </a:solidFill>
          <a:ln w="12700">
            <a:solidFill>
              <a:srgbClr val="E3DEC3"/>
            </a:solidFill>
            <a:prstDash val="solid"/>
          </a:ln>
        </p:spPr>
      </p:sp>
      <p:pic>
        <p:nvPicPr>
          <p:cNvPr id="6" name="Image 0" descr="/mnt/data/grid-6-post-final.png">    </p:cNvPr>
          <p:cNvPicPr>
            <a:picLocks noChangeAspect="1"/>
          </p:cNvPicPr>
          <p:nvPr/>
        </p:nvPicPr>
        <p:blipFill>
          <a:blip r:embed="rId1"/>
          <a:stretch>
            <a:fillRect/>
          </a:stretch>
        </p:blipFill>
        <p:spPr>
          <a:xfrm>
            <a:off x="713232" y="2441448"/>
            <a:ext cx="5650992" cy="3611880"/>
          </a:xfrm>
          <a:prstGeom prst="rect">
            <a:avLst/>
          </a:prstGeom>
        </p:spPr>
      </p:pic>
      <p:sp>
        <p:nvSpPr>
          <p:cNvPr id="7" name="Shape 4"/>
          <p:cNvSpPr/>
          <p:nvPr/>
        </p:nvSpPr>
        <p:spPr>
          <a:xfrm>
            <a:off x="6748272" y="2331720"/>
            <a:ext cx="4800600" cy="3886200"/>
          </a:xfrm>
          <a:prstGeom prst="roundRect">
            <a:avLst>
              <a:gd name="adj" fmla="val 6588"/>
            </a:avLst>
          </a:prstGeom>
          <a:solidFill>
            <a:srgbClr val="34422D"/>
          </a:solidFill>
          <a:ln w="12700">
            <a:solidFill>
              <a:srgbClr val="34422D">
                <a:alpha val="0"/>
              </a:srgbClr>
            </a:solidFill>
            <a:prstDash val="solid"/>
          </a:ln>
        </p:spPr>
      </p:sp>
      <p:sp>
        <p:nvSpPr>
          <p:cNvPr id="8" name="Text 5"/>
          <p:cNvSpPr/>
          <p:nvPr/>
        </p:nvSpPr>
        <p:spPr>
          <a:xfrm>
            <a:off x="7059168" y="2633472"/>
            <a:ext cx="2286000" cy="256032"/>
          </a:xfrm>
          <a:prstGeom prst="rect">
            <a:avLst/>
          </a:prstGeom>
          <a:noFill/>
          <a:ln/>
        </p:spPr>
        <p:txBody>
          <a:bodyPr wrap="square" lIns="0" tIns="0" rIns="0" bIns="0" rtlCol="0" anchor="ctr">
            <a:normAutofit/>
          </a:bodyPr>
          <a:lstStyle/>
          <a:p>
            <a:pPr algn="l" indent="0" marL="0">
              <a:buNone/>
            </a:pPr>
            <a:r>
              <a:rPr lang="en-US" sz="1000" b="1" spc="80" kern="0" dirty="0">
                <a:solidFill>
                  <a:srgbClr val="D8B98C"/>
                </a:solidFill>
                <a:latin typeface="Inter" pitchFamily="34" charset="0"/>
                <a:ea typeface="Inter" pitchFamily="34" charset="-122"/>
                <a:cs typeface="Inter" pitchFamily="34" charset="-120"/>
              </a:rPr>
              <a:t>ÜRETİLEN VARLIKLAR</a:t>
            </a:r>
            <a:endParaRPr lang="en-US" sz="1000" dirty="0"/>
          </a:p>
        </p:txBody>
      </p:sp>
      <p:sp>
        <p:nvSpPr>
          <p:cNvPr id="9" name="Text 6"/>
          <p:cNvSpPr/>
          <p:nvPr/>
        </p:nvSpPr>
        <p:spPr>
          <a:xfrm>
            <a:off x="7059168" y="3108960"/>
            <a:ext cx="640080" cy="292608"/>
          </a:xfrm>
          <a:prstGeom prst="rect">
            <a:avLst/>
          </a:prstGeom>
          <a:noFill/>
          <a:ln/>
        </p:spPr>
        <p:txBody>
          <a:bodyPr wrap="square" lIns="0" tIns="0" rIns="0" bIns="0" rtlCol="0" anchor="ctr">
            <a:normAutofit/>
          </a:bodyPr>
          <a:lstStyle/>
          <a:p>
            <a:pPr algn="l" indent="0" marL="0">
              <a:buNone/>
            </a:pPr>
            <a:r>
              <a:rPr lang="en-US" sz="1800" b="1" dirty="0">
                <a:solidFill>
                  <a:srgbClr val="F4F0E6"/>
                </a:solidFill>
                <a:latin typeface="Inter" pitchFamily="34" charset="0"/>
                <a:ea typeface="Inter" pitchFamily="34" charset="-122"/>
                <a:cs typeface="Inter" pitchFamily="34" charset="-120"/>
              </a:rPr>
              <a:t>6</a:t>
            </a:r>
            <a:endParaRPr lang="en-US" sz="1800" dirty="0"/>
          </a:p>
        </p:txBody>
      </p:sp>
      <p:sp>
        <p:nvSpPr>
          <p:cNvPr id="10" name="Text 7"/>
          <p:cNvSpPr/>
          <p:nvPr/>
        </p:nvSpPr>
        <p:spPr>
          <a:xfrm>
            <a:off x="7818120" y="3108960"/>
            <a:ext cx="1920240" cy="256032"/>
          </a:xfrm>
          <a:prstGeom prst="rect">
            <a:avLst/>
          </a:prstGeom>
          <a:noFill/>
          <a:ln/>
        </p:spPr>
        <p:txBody>
          <a:bodyPr wrap="square" lIns="0" tIns="0" rIns="0" bIns="0" rtlCol="0" anchor="ctr">
            <a:normAutofit/>
          </a:bodyPr>
          <a:lstStyle/>
          <a:p>
            <a:pPr algn="l" indent="0" marL="0">
              <a:buNone/>
            </a:pPr>
            <a:r>
              <a:rPr lang="en-US" sz="1100" b="1" dirty="0">
                <a:solidFill>
                  <a:srgbClr val="F4F0E6"/>
                </a:solidFill>
                <a:latin typeface="Inter" pitchFamily="34" charset="0"/>
                <a:ea typeface="Inter" pitchFamily="34" charset="-122"/>
                <a:cs typeface="Inter" pitchFamily="34" charset="-120"/>
              </a:rPr>
              <a:t>Final Feed Postu</a:t>
            </a:r>
            <a:endParaRPr lang="en-US" sz="1100" dirty="0"/>
          </a:p>
        </p:txBody>
      </p:sp>
      <p:sp>
        <p:nvSpPr>
          <p:cNvPr id="11" name="Text 8"/>
          <p:cNvSpPr/>
          <p:nvPr/>
        </p:nvSpPr>
        <p:spPr>
          <a:xfrm>
            <a:off x="9829800" y="3108960"/>
            <a:ext cx="1234440" cy="256032"/>
          </a:xfrm>
          <a:prstGeom prst="rect">
            <a:avLst/>
          </a:prstGeom>
          <a:noFill/>
          <a:ln/>
        </p:spPr>
        <p:txBody>
          <a:bodyPr wrap="square" lIns="0" tIns="0" rIns="0" bIns="0" rtlCol="0" anchor="ctr">
            <a:normAutofit/>
          </a:bodyPr>
          <a:lstStyle/>
          <a:p>
            <a:pPr algn="r" indent="0" marL="0">
              <a:buNone/>
            </a:pPr>
            <a:r>
              <a:rPr lang="en-US" sz="900" dirty="0">
                <a:solidFill>
                  <a:srgbClr val="DDE4D8"/>
                </a:solidFill>
                <a:latin typeface="Inter" pitchFamily="34" charset="0"/>
                <a:ea typeface="Inter" pitchFamily="34" charset="-122"/>
                <a:cs typeface="Inter" pitchFamily="34" charset="-120"/>
              </a:rPr>
              <a:t>1080×1350 PNG</a:t>
            </a:r>
            <a:endParaRPr lang="en-US" sz="900" dirty="0"/>
          </a:p>
        </p:txBody>
      </p:sp>
      <p:sp>
        <p:nvSpPr>
          <p:cNvPr id="12" name="Shape 9"/>
          <p:cNvSpPr/>
          <p:nvPr/>
        </p:nvSpPr>
        <p:spPr>
          <a:xfrm>
            <a:off x="7059168" y="3538728"/>
            <a:ext cx="4023360" cy="0"/>
          </a:xfrm>
          <a:prstGeom prst="line">
            <a:avLst/>
          </a:prstGeom>
          <a:noFill/>
          <a:ln w="12700">
            <a:solidFill>
              <a:srgbClr val="56634E"/>
            </a:solidFill>
            <a:prstDash val="solid"/>
          </a:ln>
        </p:spPr>
      </p:sp>
      <p:sp>
        <p:nvSpPr>
          <p:cNvPr id="13" name="Text 10"/>
          <p:cNvSpPr/>
          <p:nvPr/>
        </p:nvSpPr>
        <p:spPr>
          <a:xfrm>
            <a:off x="7059168" y="3749040"/>
            <a:ext cx="640080" cy="292608"/>
          </a:xfrm>
          <a:prstGeom prst="rect">
            <a:avLst/>
          </a:prstGeom>
          <a:noFill/>
          <a:ln/>
        </p:spPr>
        <p:txBody>
          <a:bodyPr wrap="square" lIns="0" tIns="0" rIns="0" bIns="0" rtlCol="0" anchor="ctr">
            <a:normAutofit/>
          </a:bodyPr>
          <a:lstStyle/>
          <a:p>
            <a:pPr algn="l" indent="0" marL="0">
              <a:buNone/>
            </a:pPr>
            <a:r>
              <a:rPr lang="en-US" sz="1800" b="1" dirty="0">
                <a:solidFill>
                  <a:srgbClr val="F4F0E6"/>
                </a:solidFill>
                <a:latin typeface="Inter" pitchFamily="34" charset="0"/>
                <a:ea typeface="Inter" pitchFamily="34" charset="-122"/>
                <a:cs typeface="Inter" pitchFamily="34" charset="-120"/>
              </a:rPr>
              <a:t>3</a:t>
            </a:r>
            <a:endParaRPr lang="en-US" sz="1800" dirty="0"/>
          </a:p>
        </p:txBody>
      </p:sp>
      <p:sp>
        <p:nvSpPr>
          <p:cNvPr id="14" name="Text 11"/>
          <p:cNvSpPr/>
          <p:nvPr/>
        </p:nvSpPr>
        <p:spPr>
          <a:xfrm>
            <a:off x="7818120" y="3749040"/>
            <a:ext cx="1920240" cy="256032"/>
          </a:xfrm>
          <a:prstGeom prst="rect">
            <a:avLst/>
          </a:prstGeom>
          <a:noFill/>
          <a:ln/>
        </p:spPr>
        <p:txBody>
          <a:bodyPr wrap="square" lIns="0" tIns="0" rIns="0" bIns="0" rtlCol="0" anchor="ctr">
            <a:normAutofit/>
          </a:bodyPr>
          <a:lstStyle/>
          <a:p>
            <a:pPr algn="l" indent="0" marL="0">
              <a:buNone/>
            </a:pPr>
            <a:r>
              <a:rPr lang="en-US" sz="1100" b="1" dirty="0">
                <a:solidFill>
                  <a:srgbClr val="F4F0E6"/>
                </a:solidFill>
                <a:latin typeface="Inter" pitchFamily="34" charset="0"/>
                <a:ea typeface="Inter" pitchFamily="34" charset="-122"/>
                <a:cs typeface="Inter" pitchFamily="34" charset="-120"/>
              </a:rPr>
              <a:t>Instagram Story</a:t>
            </a:r>
            <a:endParaRPr lang="en-US" sz="1100" dirty="0"/>
          </a:p>
        </p:txBody>
      </p:sp>
      <p:sp>
        <p:nvSpPr>
          <p:cNvPr id="15" name="Text 12"/>
          <p:cNvSpPr/>
          <p:nvPr/>
        </p:nvSpPr>
        <p:spPr>
          <a:xfrm>
            <a:off x="9829800" y="3749040"/>
            <a:ext cx="1234440" cy="256032"/>
          </a:xfrm>
          <a:prstGeom prst="rect">
            <a:avLst/>
          </a:prstGeom>
          <a:noFill/>
          <a:ln/>
        </p:spPr>
        <p:txBody>
          <a:bodyPr wrap="square" lIns="0" tIns="0" rIns="0" bIns="0" rtlCol="0" anchor="ctr">
            <a:normAutofit/>
          </a:bodyPr>
          <a:lstStyle/>
          <a:p>
            <a:pPr algn="r" indent="0" marL="0">
              <a:buNone/>
            </a:pPr>
            <a:r>
              <a:rPr lang="en-US" sz="900" dirty="0">
                <a:solidFill>
                  <a:srgbClr val="DDE4D8"/>
                </a:solidFill>
                <a:latin typeface="Inter" pitchFamily="34" charset="0"/>
                <a:ea typeface="Inter" pitchFamily="34" charset="-122"/>
                <a:cs typeface="Inter" pitchFamily="34" charset="-120"/>
              </a:rPr>
              <a:t>1080×1920 PNG</a:t>
            </a:r>
            <a:endParaRPr lang="en-US" sz="900" dirty="0"/>
          </a:p>
        </p:txBody>
      </p:sp>
      <p:sp>
        <p:nvSpPr>
          <p:cNvPr id="16" name="Shape 13"/>
          <p:cNvSpPr/>
          <p:nvPr/>
        </p:nvSpPr>
        <p:spPr>
          <a:xfrm>
            <a:off x="7059168" y="4178808"/>
            <a:ext cx="4023360" cy="0"/>
          </a:xfrm>
          <a:prstGeom prst="line">
            <a:avLst/>
          </a:prstGeom>
          <a:noFill/>
          <a:ln w="12700">
            <a:solidFill>
              <a:srgbClr val="56634E"/>
            </a:solidFill>
            <a:prstDash val="solid"/>
          </a:ln>
        </p:spPr>
      </p:sp>
      <p:sp>
        <p:nvSpPr>
          <p:cNvPr id="17" name="Text 14"/>
          <p:cNvSpPr/>
          <p:nvPr/>
        </p:nvSpPr>
        <p:spPr>
          <a:xfrm>
            <a:off x="7059168" y="4389120"/>
            <a:ext cx="640080" cy="292608"/>
          </a:xfrm>
          <a:prstGeom prst="rect">
            <a:avLst/>
          </a:prstGeom>
          <a:noFill/>
          <a:ln/>
        </p:spPr>
        <p:txBody>
          <a:bodyPr wrap="square" lIns="0" tIns="0" rIns="0" bIns="0" rtlCol="0" anchor="ctr">
            <a:normAutofit/>
          </a:bodyPr>
          <a:lstStyle/>
          <a:p>
            <a:pPr algn="l" indent="0" marL="0">
              <a:buNone/>
            </a:pPr>
            <a:r>
              <a:rPr lang="en-US" sz="1800" b="1" dirty="0">
                <a:solidFill>
                  <a:srgbClr val="F4F0E6"/>
                </a:solidFill>
                <a:latin typeface="Inter" pitchFamily="34" charset="0"/>
                <a:ea typeface="Inter" pitchFamily="34" charset="-122"/>
                <a:cs typeface="Inter" pitchFamily="34" charset="-120"/>
              </a:rPr>
              <a:t>28 sn</a:t>
            </a:r>
            <a:endParaRPr lang="en-US" sz="1800" dirty="0"/>
          </a:p>
        </p:txBody>
      </p:sp>
      <p:sp>
        <p:nvSpPr>
          <p:cNvPr id="18" name="Text 15"/>
          <p:cNvSpPr/>
          <p:nvPr/>
        </p:nvSpPr>
        <p:spPr>
          <a:xfrm>
            <a:off x="7818120" y="4389120"/>
            <a:ext cx="1920240" cy="256032"/>
          </a:xfrm>
          <a:prstGeom prst="rect">
            <a:avLst/>
          </a:prstGeom>
          <a:noFill/>
          <a:ln/>
        </p:spPr>
        <p:txBody>
          <a:bodyPr wrap="square" lIns="0" tIns="0" rIns="0" bIns="0" rtlCol="0" anchor="ctr">
            <a:normAutofit/>
          </a:bodyPr>
          <a:lstStyle/>
          <a:p>
            <a:pPr algn="l" indent="0" marL="0">
              <a:buNone/>
            </a:pPr>
            <a:r>
              <a:rPr lang="en-US" sz="1100" b="1" dirty="0">
                <a:solidFill>
                  <a:srgbClr val="F4F0E6"/>
                </a:solidFill>
                <a:latin typeface="Inter" pitchFamily="34" charset="0"/>
                <a:ea typeface="Inter" pitchFamily="34" charset="-122"/>
                <a:cs typeface="Inter" pitchFamily="34" charset="-120"/>
              </a:rPr>
              <a:t>Reels Prototype</a:t>
            </a:r>
            <a:endParaRPr lang="en-US" sz="1100" dirty="0"/>
          </a:p>
        </p:txBody>
      </p:sp>
      <p:sp>
        <p:nvSpPr>
          <p:cNvPr id="19" name="Text 16"/>
          <p:cNvSpPr/>
          <p:nvPr/>
        </p:nvSpPr>
        <p:spPr>
          <a:xfrm>
            <a:off x="9829800" y="4389120"/>
            <a:ext cx="1234440" cy="256032"/>
          </a:xfrm>
          <a:prstGeom prst="rect">
            <a:avLst/>
          </a:prstGeom>
          <a:noFill/>
          <a:ln/>
        </p:spPr>
        <p:txBody>
          <a:bodyPr wrap="square" lIns="0" tIns="0" rIns="0" bIns="0" rtlCol="0" anchor="ctr">
            <a:normAutofit/>
          </a:bodyPr>
          <a:lstStyle/>
          <a:p>
            <a:pPr algn="r" indent="0" marL="0">
              <a:buNone/>
            </a:pPr>
            <a:r>
              <a:rPr lang="en-US" sz="900" dirty="0">
                <a:solidFill>
                  <a:srgbClr val="DDE4D8"/>
                </a:solidFill>
                <a:latin typeface="Inter" pitchFamily="34" charset="0"/>
                <a:ea typeface="Inter" pitchFamily="34" charset="-122"/>
                <a:cs typeface="Inter" pitchFamily="34" charset="-120"/>
              </a:rPr>
              <a:t>9:16 MP4</a:t>
            </a:r>
            <a:endParaRPr lang="en-US" sz="900" dirty="0"/>
          </a:p>
        </p:txBody>
      </p:sp>
      <p:sp>
        <p:nvSpPr>
          <p:cNvPr id="20" name="Shape 17"/>
          <p:cNvSpPr/>
          <p:nvPr/>
        </p:nvSpPr>
        <p:spPr>
          <a:xfrm>
            <a:off x="7059168" y="4818888"/>
            <a:ext cx="4023360" cy="0"/>
          </a:xfrm>
          <a:prstGeom prst="line">
            <a:avLst/>
          </a:prstGeom>
          <a:noFill/>
          <a:ln w="12700">
            <a:solidFill>
              <a:srgbClr val="56634E"/>
            </a:solidFill>
            <a:prstDash val="solid"/>
          </a:ln>
        </p:spPr>
      </p:sp>
      <p:sp>
        <p:nvSpPr>
          <p:cNvPr id="21" name="Text 18"/>
          <p:cNvSpPr/>
          <p:nvPr/>
        </p:nvSpPr>
        <p:spPr>
          <a:xfrm>
            <a:off x="7059168" y="5029200"/>
            <a:ext cx="640080" cy="292608"/>
          </a:xfrm>
          <a:prstGeom prst="rect">
            <a:avLst/>
          </a:prstGeom>
          <a:noFill/>
          <a:ln/>
        </p:spPr>
        <p:txBody>
          <a:bodyPr wrap="square" lIns="0" tIns="0" rIns="0" bIns="0" rtlCol="0" anchor="ctr">
            <a:normAutofit/>
          </a:bodyPr>
          <a:lstStyle/>
          <a:p>
            <a:pPr algn="l" indent="0" marL="0">
              <a:buNone/>
            </a:pPr>
            <a:r>
              <a:rPr lang="en-US" sz="1800" b="1" dirty="0">
                <a:solidFill>
                  <a:srgbClr val="F4F0E6"/>
                </a:solidFill>
                <a:latin typeface="Inter" pitchFamily="34" charset="0"/>
                <a:ea typeface="Inter" pitchFamily="34" charset="-122"/>
                <a:cs typeface="Inter" pitchFamily="34" charset="-120"/>
              </a:rPr>
              <a:t>14 gün</a:t>
            </a:r>
            <a:endParaRPr lang="en-US" sz="1800" dirty="0"/>
          </a:p>
        </p:txBody>
      </p:sp>
      <p:sp>
        <p:nvSpPr>
          <p:cNvPr id="22" name="Text 19"/>
          <p:cNvSpPr/>
          <p:nvPr/>
        </p:nvSpPr>
        <p:spPr>
          <a:xfrm>
            <a:off x="7818120" y="5029200"/>
            <a:ext cx="1920240" cy="256032"/>
          </a:xfrm>
          <a:prstGeom prst="rect">
            <a:avLst/>
          </a:prstGeom>
          <a:noFill/>
          <a:ln/>
        </p:spPr>
        <p:txBody>
          <a:bodyPr wrap="square" lIns="0" tIns="0" rIns="0" bIns="0" rtlCol="0" anchor="ctr">
            <a:normAutofit/>
          </a:bodyPr>
          <a:lstStyle/>
          <a:p>
            <a:pPr algn="l" indent="0" marL="0">
              <a:buNone/>
            </a:pPr>
            <a:r>
              <a:rPr lang="en-US" sz="1100" b="1" dirty="0">
                <a:solidFill>
                  <a:srgbClr val="F4F0E6"/>
                </a:solidFill>
                <a:latin typeface="Inter" pitchFamily="34" charset="0"/>
                <a:ea typeface="Inter" pitchFamily="34" charset="-122"/>
                <a:cs typeface="Inter" pitchFamily="34" charset="-120"/>
              </a:rPr>
              <a:t>İçerik Takvimi</a:t>
            </a:r>
            <a:endParaRPr lang="en-US" sz="1100" dirty="0"/>
          </a:p>
        </p:txBody>
      </p:sp>
      <p:sp>
        <p:nvSpPr>
          <p:cNvPr id="23" name="Text 20"/>
          <p:cNvSpPr/>
          <p:nvPr/>
        </p:nvSpPr>
        <p:spPr>
          <a:xfrm>
            <a:off x="9829800" y="5029200"/>
            <a:ext cx="1234440" cy="256032"/>
          </a:xfrm>
          <a:prstGeom prst="rect">
            <a:avLst/>
          </a:prstGeom>
          <a:noFill/>
          <a:ln/>
        </p:spPr>
        <p:txBody>
          <a:bodyPr wrap="square" lIns="0" tIns="0" rIns="0" bIns="0" rtlCol="0" anchor="ctr">
            <a:normAutofit/>
          </a:bodyPr>
          <a:lstStyle/>
          <a:p>
            <a:pPr algn="r" indent="0" marL="0">
              <a:buNone/>
            </a:pPr>
            <a:r>
              <a:rPr lang="en-US" sz="900" dirty="0">
                <a:solidFill>
                  <a:srgbClr val="DDE4D8"/>
                </a:solidFill>
                <a:latin typeface="Inter" pitchFamily="34" charset="0"/>
                <a:ea typeface="Inter" pitchFamily="34" charset="-122"/>
                <a:cs typeface="Inter" pitchFamily="34" charset="-120"/>
              </a:rPr>
              <a:t>Post + Story + Reels</a:t>
            </a:r>
            <a:endParaRPr lang="en-US" sz="900" dirty="0"/>
          </a:p>
        </p:txBody>
      </p:sp>
      <p:sp>
        <p:nvSpPr>
          <p:cNvPr id="24" name="Shape 21"/>
          <p:cNvSpPr/>
          <p:nvPr/>
        </p:nvSpPr>
        <p:spPr>
          <a:xfrm>
            <a:off x="7059168" y="5705856"/>
            <a:ext cx="1481328" cy="310896"/>
          </a:xfrm>
          <a:prstGeom prst="roundRect">
            <a:avLst>
              <a:gd name="adj" fmla="val 50000"/>
            </a:avLst>
          </a:prstGeom>
          <a:solidFill>
            <a:srgbClr val="56634E"/>
          </a:solidFill>
          <a:ln w="12700">
            <a:solidFill>
              <a:srgbClr val="56634E">
                <a:alpha val="0"/>
              </a:srgbClr>
            </a:solidFill>
            <a:prstDash val="solid"/>
          </a:ln>
        </p:spPr>
      </p:sp>
      <p:sp>
        <p:nvSpPr>
          <p:cNvPr id="25" name="Text 22"/>
          <p:cNvSpPr/>
          <p:nvPr/>
        </p:nvSpPr>
        <p:spPr>
          <a:xfrm>
            <a:off x="7141464" y="5724144"/>
            <a:ext cx="1316736" cy="274320"/>
          </a:xfrm>
          <a:prstGeom prst="rect">
            <a:avLst/>
          </a:prstGeom>
          <a:noFill/>
          <a:ln/>
        </p:spPr>
        <p:txBody>
          <a:bodyPr wrap="square" lIns="0" tIns="0" rIns="0" bIns="0" rtlCol="0" anchor="ctr">
            <a:normAutofit/>
          </a:bodyPr>
          <a:lstStyle/>
          <a:p>
            <a:pPr algn="ctr" indent="0" marL="0">
              <a:buNone/>
            </a:pPr>
            <a:r>
              <a:rPr lang="en-US" sz="880" b="1" dirty="0">
                <a:solidFill>
                  <a:srgbClr val="F4F0E6"/>
                </a:solidFill>
                <a:latin typeface="Inter" pitchFamily="34" charset="0"/>
                <a:ea typeface="Inter" pitchFamily="34" charset="-122"/>
                <a:cs typeface="Inter" pitchFamily="34" charset="-120"/>
              </a:rPr>
              <a:t>DEMO / PORTFOLIO</a:t>
            </a:r>
            <a:endParaRPr lang="en-US" sz="880" dirty="0"/>
          </a:p>
        </p:txBody>
      </p:sp>
      <p:sp>
        <p:nvSpPr>
          <p:cNvPr id="26" name="Text 23"/>
          <p:cNvSpPr/>
          <p:nvPr/>
        </p:nvSpPr>
        <p:spPr>
          <a:xfrm>
            <a:off x="8732520" y="5687568"/>
            <a:ext cx="1965960" cy="310896"/>
          </a:xfrm>
          <a:prstGeom prst="rect">
            <a:avLst/>
          </a:prstGeom>
          <a:noFill/>
          <a:ln/>
        </p:spPr>
        <p:txBody>
          <a:bodyPr wrap="square" lIns="0" tIns="0" rIns="0" bIns="0" rtlCol="0" anchor="ctr">
            <a:normAutofit/>
          </a:bodyPr>
          <a:lstStyle/>
          <a:p>
            <a:pPr algn="l" indent="0" marL="0">
              <a:buNone/>
            </a:pPr>
            <a:r>
              <a:rPr lang="en-US" sz="950" dirty="0">
                <a:solidFill>
                  <a:srgbClr val="DDE4D8"/>
                </a:solidFill>
                <a:latin typeface="Inter" pitchFamily="34" charset="0"/>
                <a:ea typeface="Inter" pitchFamily="34" charset="-122"/>
                <a:cs typeface="Inter" pitchFamily="34" charset="-120"/>
              </a:rPr>
              <a:t>Sahte takipçi / beğeni metrikleri kullanılmadı.</a:t>
            </a:r>
            <a:endParaRPr lang="en-US" sz="9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8D8A80"/>
                </a:solidFill>
                <a:latin typeface="Inter"/>
                <a:ea typeface="Inter"/>
                <a:cs typeface="Inter"/>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621792"/>
            <a:ext cx="4480560" cy="237744"/>
          </a:xfrm>
          <a:prstGeom prst="rect">
            <a:avLst/>
          </a:prstGeom>
          <a:noFill/>
          <a:ln/>
        </p:spPr>
        <p:txBody>
          <a:bodyPr wrap="square" lIns="0" tIns="0" rIns="0" bIns="0" rtlCol="0" anchor="ctr">
            <a:normAutofit/>
          </a:bodyPr>
          <a:lstStyle/>
          <a:p>
            <a:pPr algn="l" indent="0" marL="0">
              <a:buNone/>
            </a:pPr>
            <a:r>
              <a:rPr lang="en-US" sz="900" b="1" spc="125" kern="0" dirty="0">
                <a:solidFill>
                  <a:srgbClr val="68734B"/>
                </a:solidFill>
                <a:latin typeface="Inter" pitchFamily="34" charset="0"/>
                <a:ea typeface="Inter" pitchFamily="34" charset="-122"/>
                <a:cs typeface="Inter" pitchFamily="34" charset="-120"/>
              </a:rPr>
              <a:t>04 / WEB SITESI DEMOSU</a:t>
            </a:r>
            <a:endParaRPr lang="en-US" sz="900" dirty="0"/>
          </a:p>
        </p:txBody>
      </p:sp>
      <p:sp>
        <p:nvSpPr>
          <p:cNvPr id="3" name="Text 1"/>
          <p:cNvSpPr/>
          <p:nvPr/>
        </p:nvSpPr>
        <p:spPr>
          <a:xfrm>
            <a:off x="594360" y="941832"/>
            <a:ext cx="10789920" cy="658368"/>
          </a:xfrm>
          <a:prstGeom prst="rect">
            <a:avLst/>
          </a:prstGeom>
          <a:noFill/>
          <a:ln/>
        </p:spPr>
        <p:txBody>
          <a:bodyPr wrap="square" lIns="0" tIns="0" rIns="0" bIns="0" rtlCol="0" anchor="ctr">
            <a:normAutofit/>
          </a:bodyPr>
          <a:lstStyle/>
          <a:p>
            <a:pPr algn="l" indent="0" marL="0">
              <a:buNone/>
            </a:pPr>
            <a:r>
              <a:rPr lang="en-US" sz="2800" b="1" dirty="0">
                <a:solidFill>
                  <a:srgbClr val="34422D"/>
                </a:solidFill>
                <a:latin typeface="Inter" pitchFamily="34" charset="0"/>
                <a:ea typeface="Inter" pitchFamily="34" charset="-122"/>
                <a:cs typeface="Inter" pitchFamily="34" charset="-120"/>
              </a:rPr>
              <a:t>Mobil öncelikli, tek sayfalık ve gerçekten tıklanabilir.</a:t>
            </a:r>
            <a:endParaRPr lang="en-US" sz="2800" dirty="0"/>
          </a:p>
        </p:txBody>
      </p:sp>
      <p:sp>
        <p:nvSpPr>
          <p:cNvPr id="4" name="Text 2"/>
          <p:cNvSpPr/>
          <p:nvPr/>
        </p:nvSpPr>
        <p:spPr>
          <a:xfrm>
            <a:off x="594360" y="1664208"/>
            <a:ext cx="10607040" cy="457200"/>
          </a:xfrm>
          <a:prstGeom prst="rect">
            <a:avLst/>
          </a:prstGeom>
          <a:noFill/>
          <a:ln/>
        </p:spPr>
        <p:txBody>
          <a:bodyPr wrap="square" lIns="0" tIns="0" rIns="0" bIns="0" rtlCol="0" anchor="ctr">
            <a:normAutofit/>
          </a:bodyPr>
          <a:lstStyle/>
          <a:p>
            <a:pPr algn="l" indent="0" marL="0">
              <a:buNone/>
            </a:pPr>
            <a:r>
              <a:rPr lang="en-US" sz="1250" dirty="0">
                <a:solidFill>
                  <a:srgbClr val="6B675F"/>
                </a:solidFill>
                <a:latin typeface="Inter" pitchFamily="34" charset="0"/>
                <a:ea typeface="Inter" pitchFamily="34" charset="-122"/>
                <a:cs typeface="Inter" pitchFamily="34" charset="-120"/>
              </a:rPr>
              <a:t>Menü filtreleri, B+ Moments ve demo ön sipariş akışı aynı deneyim içinde.</a:t>
            </a:r>
            <a:endParaRPr lang="en-US" sz="1250" dirty="0"/>
          </a:p>
        </p:txBody>
      </p:sp>
      <p:sp>
        <p:nvSpPr>
          <p:cNvPr id="5" name="Shape 3"/>
          <p:cNvSpPr/>
          <p:nvPr/>
        </p:nvSpPr>
        <p:spPr>
          <a:xfrm>
            <a:off x="594360" y="2331720"/>
            <a:ext cx="6492240" cy="3858768"/>
          </a:xfrm>
          <a:prstGeom prst="roundRect">
            <a:avLst>
              <a:gd name="adj" fmla="val 6635"/>
            </a:avLst>
          </a:prstGeom>
          <a:solidFill>
            <a:srgbClr val="FFFFFF"/>
          </a:solidFill>
          <a:ln w="12700">
            <a:solidFill>
              <a:srgbClr val="E3DEC3"/>
            </a:solidFill>
            <a:prstDash val="solid"/>
          </a:ln>
        </p:spPr>
      </p:sp>
      <p:sp>
        <p:nvSpPr>
          <p:cNvPr id="6" name="Shape 4"/>
          <p:cNvSpPr/>
          <p:nvPr/>
        </p:nvSpPr>
        <p:spPr>
          <a:xfrm>
            <a:off x="594360" y="2331720"/>
            <a:ext cx="6492240" cy="411480"/>
          </a:xfrm>
          <a:prstGeom prst="roundRect">
            <a:avLst>
              <a:gd name="adj" fmla="val 62222"/>
            </a:avLst>
          </a:prstGeom>
          <a:solidFill>
            <a:srgbClr val="ECE8DE"/>
          </a:solidFill>
          <a:ln w="12700">
            <a:solidFill>
              <a:srgbClr val="ECE8DE">
                <a:alpha val="0"/>
              </a:srgbClr>
            </a:solidFill>
            <a:prstDash val="solid"/>
          </a:ln>
        </p:spPr>
      </p:sp>
      <p:sp>
        <p:nvSpPr>
          <p:cNvPr id="7" name="Shape 5"/>
          <p:cNvSpPr/>
          <p:nvPr/>
        </p:nvSpPr>
        <p:spPr>
          <a:xfrm>
            <a:off x="804672" y="2468880"/>
            <a:ext cx="82296" cy="82296"/>
          </a:xfrm>
          <a:prstGeom prst="ellipse">
            <a:avLst/>
          </a:prstGeom>
          <a:solidFill>
            <a:srgbClr val="C7C1B4"/>
          </a:solidFill>
          <a:ln w="12700">
            <a:solidFill>
              <a:srgbClr val="C7C1B4">
                <a:alpha val="0"/>
              </a:srgbClr>
            </a:solidFill>
            <a:prstDash val="solid"/>
          </a:ln>
        </p:spPr>
      </p:sp>
      <p:sp>
        <p:nvSpPr>
          <p:cNvPr id="8" name="Shape 6"/>
          <p:cNvSpPr/>
          <p:nvPr/>
        </p:nvSpPr>
        <p:spPr>
          <a:xfrm>
            <a:off x="969264" y="2468880"/>
            <a:ext cx="82296" cy="82296"/>
          </a:xfrm>
          <a:prstGeom prst="ellipse">
            <a:avLst/>
          </a:prstGeom>
          <a:solidFill>
            <a:srgbClr val="C7C1B4"/>
          </a:solidFill>
          <a:ln w="12700">
            <a:solidFill>
              <a:srgbClr val="C7C1B4">
                <a:alpha val="0"/>
              </a:srgbClr>
            </a:solidFill>
            <a:prstDash val="solid"/>
          </a:ln>
        </p:spPr>
      </p:sp>
      <p:sp>
        <p:nvSpPr>
          <p:cNvPr id="9" name="Shape 7"/>
          <p:cNvSpPr/>
          <p:nvPr/>
        </p:nvSpPr>
        <p:spPr>
          <a:xfrm>
            <a:off x="1133856" y="2468880"/>
            <a:ext cx="82296" cy="82296"/>
          </a:xfrm>
          <a:prstGeom prst="ellipse">
            <a:avLst/>
          </a:prstGeom>
          <a:solidFill>
            <a:srgbClr val="C7C1B4"/>
          </a:solidFill>
          <a:ln w="12700">
            <a:solidFill>
              <a:srgbClr val="C7C1B4">
                <a:alpha val="0"/>
              </a:srgbClr>
            </a:solidFill>
            <a:prstDash val="solid"/>
          </a:ln>
        </p:spPr>
      </p:sp>
      <p:sp>
        <p:nvSpPr>
          <p:cNvPr id="10" name="Shape 8"/>
          <p:cNvSpPr/>
          <p:nvPr/>
        </p:nvSpPr>
        <p:spPr>
          <a:xfrm>
            <a:off x="850392" y="2926080"/>
            <a:ext cx="5989320" cy="640080"/>
          </a:xfrm>
          <a:prstGeom prst="roundRect">
            <a:avLst>
              <a:gd name="adj" fmla="val 25714"/>
            </a:avLst>
          </a:prstGeom>
          <a:solidFill>
            <a:srgbClr val="34422D"/>
          </a:solidFill>
          <a:ln w="12700">
            <a:solidFill>
              <a:srgbClr val="34422D">
                <a:alpha val="0"/>
              </a:srgbClr>
            </a:solidFill>
            <a:prstDash val="solid"/>
          </a:ln>
        </p:spPr>
      </p:sp>
      <p:sp>
        <p:nvSpPr>
          <p:cNvPr id="11" name="Text 9"/>
          <p:cNvSpPr/>
          <p:nvPr/>
        </p:nvSpPr>
        <p:spPr>
          <a:xfrm>
            <a:off x="1078992" y="3090672"/>
            <a:ext cx="3291840" cy="237744"/>
          </a:xfrm>
          <a:prstGeom prst="rect">
            <a:avLst/>
          </a:prstGeom>
          <a:noFill/>
          <a:ln/>
        </p:spPr>
        <p:txBody>
          <a:bodyPr wrap="square" lIns="0" tIns="0" rIns="0" bIns="0" rtlCol="0" anchor="ctr">
            <a:normAutofit/>
          </a:bodyPr>
          <a:lstStyle/>
          <a:p>
            <a:pPr algn="l" indent="0" marL="0">
              <a:buNone/>
            </a:pPr>
            <a:r>
              <a:rPr lang="en-US" sz="1300" b="1" dirty="0">
                <a:solidFill>
                  <a:srgbClr val="F4F0E6"/>
                </a:solidFill>
                <a:latin typeface="Inter" pitchFamily="34" charset="0"/>
                <a:ea typeface="Inter" pitchFamily="34" charset="-122"/>
                <a:cs typeface="Inter" pitchFamily="34" charset="-120"/>
              </a:rPr>
              <a:t>B+   İş gününe iyi bir +.</a:t>
            </a:r>
            <a:endParaRPr lang="en-US" sz="1300" dirty="0"/>
          </a:p>
        </p:txBody>
      </p:sp>
      <p:sp>
        <p:nvSpPr>
          <p:cNvPr id="12" name="Shape 10"/>
          <p:cNvSpPr/>
          <p:nvPr/>
        </p:nvSpPr>
        <p:spPr>
          <a:xfrm>
            <a:off x="5358384" y="3063240"/>
            <a:ext cx="585216" cy="228600"/>
          </a:xfrm>
          <a:prstGeom prst="roundRect">
            <a:avLst>
              <a:gd name="adj" fmla="val 50000"/>
            </a:avLst>
          </a:prstGeom>
          <a:solidFill>
            <a:srgbClr val="56634E"/>
          </a:solidFill>
          <a:ln w="12700">
            <a:solidFill>
              <a:srgbClr val="56634E">
                <a:alpha val="0"/>
              </a:srgbClr>
            </a:solidFill>
            <a:prstDash val="solid"/>
          </a:ln>
        </p:spPr>
      </p:sp>
      <p:sp>
        <p:nvSpPr>
          <p:cNvPr id="13" name="Text 11"/>
          <p:cNvSpPr/>
          <p:nvPr/>
        </p:nvSpPr>
        <p:spPr>
          <a:xfrm>
            <a:off x="5440680" y="3081528"/>
            <a:ext cx="420624" cy="192024"/>
          </a:xfrm>
          <a:prstGeom prst="rect">
            <a:avLst/>
          </a:prstGeom>
          <a:noFill/>
          <a:ln/>
        </p:spPr>
        <p:txBody>
          <a:bodyPr wrap="square" lIns="0" tIns="0" rIns="0" bIns="0" rtlCol="0" anchor="ctr">
            <a:normAutofit/>
          </a:bodyPr>
          <a:lstStyle/>
          <a:p>
            <a:pPr algn="ctr" indent="0" marL="0">
              <a:buNone/>
            </a:pPr>
            <a:r>
              <a:rPr lang="en-US" sz="880" b="1" dirty="0">
                <a:solidFill>
                  <a:srgbClr val="F4F0E6"/>
                </a:solidFill>
                <a:latin typeface="Inter" pitchFamily="34" charset="0"/>
                <a:ea typeface="Inter" pitchFamily="34" charset="-122"/>
                <a:cs typeface="Inter" pitchFamily="34" charset="-120"/>
              </a:rPr>
              <a:t>MENU</a:t>
            </a:r>
            <a:endParaRPr lang="en-US" sz="880" dirty="0"/>
          </a:p>
        </p:txBody>
      </p:sp>
      <p:sp>
        <p:nvSpPr>
          <p:cNvPr id="14" name="Shape 12"/>
          <p:cNvSpPr/>
          <p:nvPr/>
        </p:nvSpPr>
        <p:spPr>
          <a:xfrm>
            <a:off x="6053328" y="3063240"/>
            <a:ext cx="457200" cy="228600"/>
          </a:xfrm>
          <a:prstGeom prst="roundRect">
            <a:avLst>
              <a:gd name="adj" fmla="val 50000"/>
            </a:avLst>
          </a:prstGeom>
          <a:solidFill>
            <a:srgbClr val="56634E"/>
          </a:solidFill>
          <a:ln w="12700">
            <a:solidFill>
              <a:srgbClr val="56634E">
                <a:alpha val="0"/>
              </a:srgbClr>
            </a:solidFill>
            <a:prstDash val="solid"/>
          </a:ln>
        </p:spPr>
      </p:sp>
      <p:sp>
        <p:nvSpPr>
          <p:cNvPr id="15" name="Text 13"/>
          <p:cNvSpPr/>
          <p:nvPr/>
        </p:nvSpPr>
        <p:spPr>
          <a:xfrm>
            <a:off x="6135624" y="3081528"/>
            <a:ext cx="292608" cy="192024"/>
          </a:xfrm>
          <a:prstGeom prst="rect">
            <a:avLst/>
          </a:prstGeom>
          <a:noFill/>
          <a:ln/>
        </p:spPr>
        <p:txBody>
          <a:bodyPr wrap="square" lIns="0" tIns="0" rIns="0" bIns="0" rtlCol="0" anchor="ctr">
            <a:normAutofit/>
          </a:bodyPr>
          <a:lstStyle/>
          <a:p>
            <a:pPr algn="ctr" indent="0" marL="0">
              <a:buNone/>
            </a:pPr>
            <a:r>
              <a:rPr lang="en-US" sz="880" b="1" dirty="0">
                <a:solidFill>
                  <a:srgbClr val="F4F0E6"/>
                </a:solidFill>
                <a:latin typeface="Inter" pitchFamily="34" charset="0"/>
                <a:ea typeface="Inter" pitchFamily="34" charset="-122"/>
                <a:cs typeface="Inter" pitchFamily="34" charset="-120"/>
              </a:rPr>
              <a:t>AI</a:t>
            </a:r>
            <a:endParaRPr lang="en-US" sz="880" dirty="0"/>
          </a:p>
        </p:txBody>
      </p:sp>
      <p:sp>
        <p:nvSpPr>
          <p:cNvPr id="16" name="Shape 14"/>
          <p:cNvSpPr/>
          <p:nvPr/>
        </p:nvSpPr>
        <p:spPr>
          <a:xfrm>
            <a:off x="987552" y="3794760"/>
            <a:ext cx="731520" cy="274320"/>
          </a:xfrm>
          <a:prstGeom prst="roundRect">
            <a:avLst>
              <a:gd name="adj" fmla="val 50000"/>
            </a:avLst>
          </a:prstGeom>
          <a:solidFill>
            <a:srgbClr val="E9EDE2"/>
          </a:solidFill>
          <a:ln w="12700">
            <a:solidFill>
              <a:srgbClr val="E9EDE2">
                <a:alpha val="0"/>
              </a:srgbClr>
            </a:solidFill>
            <a:prstDash val="solid"/>
          </a:ln>
        </p:spPr>
      </p:sp>
      <p:sp>
        <p:nvSpPr>
          <p:cNvPr id="17" name="Text 15"/>
          <p:cNvSpPr/>
          <p:nvPr/>
        </p:nvSpPr>
        <p:spPr>
          <a:xfrm>
            <a:off x="1069848" y="3813048"/>
            <a:ext cx="566928" cy="237744"/>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08:00</a:t>
            </a:r>
            <a:endParaRPr lang="en-US" sz="880" dirty="0"/>
          </a:p>
        </p:txBody>
      </p:sp>
      <p:sp>
        <p:nvSpPr>
          <p:cNvPr id="18" name="Shape 16"/>
          <p:cNvSpPr/>
          <p:nvPr/>
        </p:nvSpPr>
        <p:spPr>
          <a:xfrm>
            <a:off x="1810512" y="3794760"/>
            <a:ext cx="786384" cy="274320"/>
          </a:xfrm>
          <a:prstGeom prst="roundRect">
            <a:avLst>
              <a:gd name="adj" fmla="val 50000"/>
            </a:avLst>
          </a:prstGeom>
          <a:solidFill>
            <a:srgbClr val="E9EDE2"/>
          </a:solidFill>
          <a:ln w="12700">
            <a:solidFill>
              <a:srgbClr val="E9EDE2">
                <a:alpha val="0"/>
              </a:srgbClr>
            </a:solidFill>
            <a:prstDash val="solid"/>
          </a:ln>
        </p:spPr>
      </p:sp>
      <p:sp>
        <p:nvSpPr>
          <p:cNvPr id="19" name="Text 17"/>
          <p:cNvSpPr/>
          <p:nvPr/>
        </p:nvSpPr>
        <p:spPr>
          <a:xfrm>
            <a:off x="1892808" y="3813048"/>
            <a:ext cx="621792" cy="237744"/>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12:30</a:t>
            </a:r>
            <a:endParaRPr lang="en-US" sz="880" dirty="0"/>
          </a:p>
        </p:txBody>
      </p:sp>
      <p:sp>
        <p:nvSpPr>
          <p:cNvPr id="20" name="Shape 18"/>
          <p:cNvSpPr/>
          <p:nvPr/>
        </p:nvSpPr>
        <p:spPr>
          <a:xfrm>
            <a:off x="2688336" y="3794760"/>
            <a:ext cx="731520" cy="274320"/>
          </a:xfrm>
          <a:prstGeom prst="roundRect">
            <a:avLst>
              <a:gd name="adj" fmla="val 50000"/>
            </a:avLst>
          </a:prstGeom>
          <a:solidFill>
            <a:srgbClr val="E9EDE2"/>
          </a:solidFill>
          <a:ln w="12700">
            <a:solidFill>
              <a:srgbClr val="E9EDE2">
                <a:alpha val="0"/>
              </a:srgbClr>
            </a:solidFill>
            <a:prstDash val="solid"/>
          </a:ln>
        </p:spPr>
      </p:sp>
      <p:sp>
        <p:nvSpPr>
          <p:cNvPr id="21" name="Text 19"/>
          <p:cNvSpPr/>
          <p:nvPr/>
        </p:nvSpPr>
        <p:spPr>
          <a:xfrm>
            <a:off x="2770632" y="3813048"/>
            <a:ext cx="566928" cy="237744"/>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15:00</a:t>
            </a:r>
            <a:endParaRPr lang="en-US" sz="880" dirty="0"/>
          </a:p>
        </p:txBody>
      </p:sp>
      <p:sp>
        <p:nvSpPr>
          <p:cNvPr id="22" name="Shape 20"/>
          <p:cNvSpPr/>
          <p:nvPr/>
        </p:nvSpPr>
        <p:spPr>
          <a:xfrm>
            <a:off x="932688" y="4251960"/>
            <a:ext cx="1755648" cy="1417320"/>
          </a:xfrm>
          <a:prstGeom prst="roundRect">
            <a:avLst>
              <a:gd name="adj" fmla="val 11613"/>
            </a:avLst>
          </a:prstGeom>
          <a:solidFill>
            <a:srgbClr val="FAF7EF"/>
          </a:solidFill>
          <a:ln w="12700">
            <a:solidFill>
              <a:srgbClr val="E3DEC3"/>
            </a:solidFill>
            <a:prstDash val="solid"/>
          </a:ln>
        </p:spPr>
      </p:sp>
      <p:pic>
        <p:nvPicPr>
          <p:cNvPr id="23" name="Image 0" descr="/mnt/data/_bplus_zip/Bplus_Cafe_Digital_Case/02_website/assets/latte.png">    </p:cNvPr>
          <p:cNvPicPr>
            <a:picLocks noChangeAspect="1"/>
          </p:cNvPicPr>
          <p:nvPr/>
        </p:nvPicPr>
        <p:blipFill>
          <a:blip r:embed="rId1"/>
          <a:stretch>
            <a:fillRect/>
          </a:stretch>
        </p:blipFill>
        <p:spPr>
          <a:xfrm>
            <a:off x="1005840" y="4325112"/>
            <a:ext cx="749808" cy="960120"/>
          </a:xfrm>
          <a:prstGeom prst="rect">
            <a:avLst/>
          </a:prstGeom>
        </p:spPr>
      </p:pic>
      <p:sp>
        <p:nvSpPr>
          <p:cNvPr id="24" name="Text 21"/>
          <p:cNvSpPr/>
          <p:nvPr/>
        </p:nvSpPr>
        <p:spPr>
          <a:xfrm>
            <a:off x="1847088" y="4407408"/>
            <a:ext cx="640080" cy="237744"/>
          </a:xfrm>
          <a:prstGeom prst="rect">
            <a:avLst/>
          </a:prstGeom>
          <a:noFill/>
          <a:ln/>
        </p:spPr>
        <p:txBody>
          <a:bodyPr wrap="square" lIns="0" tIns="0" rIns="0" bIns="0" rtlCol="0" anchor="ctr">
            <a:normAutofit/>
          </a:bodyPr>
          <a:lstStyle/>
          <a:p>
            <a:pPr algn="l" indent="0" marL="0">
              <a:buNone/>
            </a:pPr>
            <a:r>
              <a:rPr lang="en-US" sz="1000" b="1" dirty="0">
                <a:solidFill>
                  <a:srgbClr val="34422D"/>
                </a:solidFill>
                <a:latin typeface="Inter" pitchFamily="34" charset="0"/>
                <a:ea typeface="Inter" pitchFamily="34" charset="-122"/>
                <a:cs typeface="Inter" pitchFamily="34" charset="-120"/>
              </a:rPr>
              <a:t>Kahve</a:t>
            </a:r>
            <a:endParaRPr lang="en-US" sz="1000" dirty="0"/>
          </a:p>
        </p:txBody>
      </p:sp>
      <p:sp>
        <p:nvSpPr>
          <p:cNvPr id="25" name="Text 22"/>
          <p:cNvSpPr/>
          <p:nvPr/>
        </p:nvSpPr>
        <p:spPr>
          <a:xfrm>
            <a:off x="1847088" y="4736592"/>
            <a:ext cx="640080" cy="228600"/>
          </a:xfrm>
          <a:prstGeom prst="rect">
            <a:avLst/>
          </a:prstGeom>
          <a:noFill/>
          <a:ln/>
        </p:spPr>
        <p:txBody>
          <a:bodyPr wrap="square" lIns="0" tIns="0" rIns="0" bIns="0" rtlCol="0" anchor="ctr">
            <a:normAutofit/>
          </a:bodyPr>
          <a:lstStyle/>
          <a:p>
            <a:pPr algn="l" indent="0" marL="0">
              <a:buNone/>
            </a:pPr>
            <a:r>
              <a:rPr lang="en-US" sz="850" dirty="0">
                <a:solidFill>
                  <a:srgbClr val="6B675F"/>
                </a:solidFill>
                <a:latin typeface="Inter" pitchFamily="34" charset="0"/>
                <a:ea typeface="Inter" pitchFamily="34" charset="-122"/>
                <a:cs typeface="Inter" pitchFamily="34" charset="-120"/>
              </a:rPr>
              <a:t>Demo ürün</a:t>
            </a:r>
            <a:endParaRPr lang="en-US" sz="850" dirty="0"/>
          </a:p>
        </p:txBody>
      </p:sp>
      <p:sp>
        <p:nvSpPr>
          <p:cNvPr id="26" name="Shape 23"/>
          <p:cNvSpPr/>
          <p:nvPr/>
        </p:nvSpPr>
        <p:spPr>
          <a:xfrm>
            <a:off x="2816352" y="4251960"/>
            <a:ext cx="1755648" cy="1417320"/>
          </a:xfrm>
          <a:prstGeom prst="roundRect">
            <a:avLst>
              <a:gd name="adj" fmla="val 11613"/>
            </a:avLst>
          </a:prstGeom>
          <a:solidFill>
            <a:srgbClr val="FAF7EF"/>
          </a:solidFill>
          <a:ln w="12700">
            <a:solidFill>
              <a:srgbClr val="E3DEC3"/>
            </a:solidFill>
            <a:prstDash val="solid"/>
          </a:ln>
        </p:spPr>
      </p:sp>
      <p:pic>
        <p:nvPicPr>
          <p:cNvPr id="27" name="Image 1" descr="/mnt/data/_bplus_zip/Bplus_Cafe_Digital_Case/02_website/assets/matcha.png">    </p:cNvPr>
          <p:cNvPicPr>
            <a:picLocks noChangeAspect="1"/>
          </p:cNvPicPr>
          <p:nvPr/>
        </p:nvPicPr>
        <p:blipFill>
          <a:blip r:embed="rId2"/>
          <a:stretch>
            <a:fillRect/>
          </a:stretch>
        </p:blipFill>
        <p:spPr>
          <a:xfrm>
            <a:off x="2889504" y="4325112"/>
            <a:ext cx="749808" cy="960120"/>
          </a:xfrm>
          <a:prstGeom prst="rect">
            <a:avLst/>
          </a:prstGeom>
        </p:spPr>
      </p:pic>
      <p:sp>
        <p:nvSpPr>
          <p:cNvPr id="28" name="Text 24"/>
          <p:cNvSpPr/>
          <p:nvPr/>
        </p:nvSpPr>
        <p:spPr>
          <a:xfrm>
            <a:off x="3730752" y="4407408"/>
            <a:ext cx="640080" cy="237744"/>
          </a:xfrm>
          <a:prstGeom prst="rect">
            <a:avLst/>
          </a:prstGeom>
          <a:noFill/>
          <a:ln/>
        </p:spPr>
        <p:txBody>
          <a:bodyPr wrap="square" lIns="0" tIns="0" rIns="0" bIns="0" rtlCol="0" anchor="ctr">
            <a:normAutofit/>
          </a:bodyPr>
          <a:lstStyle/>
          <a:p>
            <a:pPr algn="l" indent="0" marL="0">
              <a:buNone/>
            </a:pPr>
            <a:r>
              <a:rPr lang="en-US" sz="1000" b="1" dirty="0">
                <a:solidFill>
                  <a:srgbClr val="34422D"/>
                </a:solidFill>
                <a:latin typeface="Inter" pitchFamily="34" charset="0"/>
                <a:ea typeface="Inter" pitchFamily="34" charset="-122"/>
                <a:cs typeface="Inter" pitchFamily="34" charset="-120"/>
              </a:rPr>
              <a:t>Matcha</a:t>
            </a:r>
            <a:endParaRPr lang="en-US" sz="1000" dirty="0"/>
          </a:p>
        </p:txBody>
      </p:sp>
      <p:sp>
        <p:nvSpPr>
          <p:cNvPr id="29" name="Text 25"/>
          <p:cNvSpPr/>
          <p:nvPr/>
        </p:nvSpPr>
        <p:spPr>
          <a:xfrm>
            <a:off x="3730752" y="4736592"/>
            <a:ext cx="640080" cy="228600"/>
          </a:xfrm>
          <a:prstGeom prst="rect">
            <a:avLst/>
          </a:prstGeom>
          <a:noFill/>
          <a:ln/>
        </p:spPr>
        <p:txBody>
          <a:bodyPr wrap="square" lIns="0" tIns="0" rIns="0" bIns="0" rtlCol="0" anchor="ctr">
            <a:normAutofit/>
          </a:bodyPr>
          <a:lstStyle/>
          <a:p>
            <a:pPr algn="l" indent="0" marL="0">
              <a:buNone/>
            </a:pPr>
            <a:r>
              <a:rPr lang="en-US" sz="850" dirty="0">
                <a:solidFill>
                  <a:srgbClr val="6B675F"/>
                </a:solidFill>
                <a:latin typeface="Inter" pitchFamily="34" charset="0"/>
                <a:ea typeface="Inter" pitchFamily="34" charset="-122"/>
                <a:cs typeface="Inter" pitchFamily="34" charset="-120"/>
              </a:rPr>
              <a:t>Demo ürün</a:t>
            </a:r>
            <a:endParaRPr lang="en-US" sz="850" dirty="0"/>
          </a:p>
        </p:txBody>
      </p:sp>
      <p:sp>
        <p:nvSpPr>
          <p:cNvPr id="30" name="Shape 26"/>
          <p:cNvSpPr/>
          <p:nvPr/>
        </p:nvSpPr>
        <p:spPr>
          <a:xfrm>
            <a:off x="4700016" y="4251960"/>
            <a:ext cx="1755648" cy="1417320"/>
          </a:xfrm>
          <a:prstGeom prst="roundRect">
            <a:avLst>
              <a:gd name="adj" fmla="val 11613"/>
            </a:avLst>
          </a:prstGeom>
          <a:solidFill>
            <a:srgbClr val="FAF7EF"/>
          </a:solidFill>
          <a:ln w="12700">
            <a:solidFill>
              <a:srgbClr val="E3DEC3"/>
            </a:solidFill>
            <a:prstDash val="solid"/>
          </a:ln>
        </p:spPr>
      </p:sp>
      <p:pic>
        <p:nvPicPr>
          <p:cNvPr id="31" name="Image 2" descr="/mnt/data/_bplus_zip/Bplus_Cafe_Digital_Case/02_website/assets/greenjuice.png">    </p:cNvPr>
          <p:cNvPicPr>
            <a:picLocks noChangeAspect="1"/>
          </p:cNvPicPr>
          <p:nvPr/>
        </p:nvPicPr>
        <p:blipFill>
          <a:blip r:embed="rId3"/>
          <a:stretch>
            <a:fillRect/>
          </a:stretch>
        </p:blipFill>
        <p:spPr>
          <a:xfrm>
            <a:off x="4773168" y="4325112"/>
            <a:ext cx="749808" cy="960120"/>
          </a:xfrm>
          <a:prstGeom prst="rect">
            <a:avLst/>
          </a:prstGeom>
        </p:spPr>
      </p:pic>
      <p:sp>
        <p:nvSpPr>
          <p:cNvPr id="32" name="Text 27"/>
          <p:cNvSpPr/>
          <p:nvPr/>
        </p:nvSpPr>
        <p:spPr>
          <a:xfrm>
            <a:off x="5614416" y="4407408"/>
            <a:ext cx="640080" cy="237744"/>
          </a:xfrm>
          <a:prstGeom prst="rect">
            <a:avLst/>
          </a:prstGeom>
          <a:noFill/>
          <a:ln/>
        </p:spPr>
        <p:txBody>
          <a:bodyPr wrap="square" lIns="0" tIns="0" rIns="0" bIns="0" rtlCol="0" anchor="ctr">
            <a:normAutofit/>
          </a:bodyPr>
          <a:lstStyle/>
          <a:p>
            <a:pPr algn="l" indent="0" marL="0">
              <a:buNone/>
            </a:pPr>
            <a:r>
              <a:rPr lang="en-US" sz="1000" b="1" dirty="0">
                <a:solidFill>
                  <a:srgbClr val="34422D"/>
                </a:solidFill>
                <a:latin typeface="Inter" pitchFamily="34" charset="0"/>
                <a:ea typeface="Inter" pitchFamily="34" charset="-122"/>
                <a:cs typeface="Inter" pitchFamily="34" charset="-120"/>
              </a:rPr>
              <a:t>Taze</a:t>
            </a:r>
            <a:endParaRPr lang="en-US" sz="1000" dirty="0"/>
          </a:p>
        </p:txBody>
      </p:sp>
      <p:sp>
        <p:nvSpPr>
          <p:cNvPr id="33" name="Text 28"/>
          <p:cNvSpPr/>
          <p:nvPr/>
        </p:nvSpPr>
        <p:spPr>
          <a:xfrm>
            <a:off x="5614416" y="4736592"/>
            <a:ext cx="640080" cy="228600"/>
          </a:xfrm>
          <a:prstGeom prst="rect">
            <a:avLst/>
          </a:prstGeom>
          <a:noFill/>
          <a:ln/>
        </p:spPr>
        <p:txBody>
          <a:bodyPr wrap="square" lIns="0" tIns="0" rIns="0" bIns="0" rtlCol="0" anchor="ctr">
            <a:normAutofit/>
          </a:bodyPr>
          <a:lstStyle/>
          <a:p>
            <a:pPr algn="l" indent="0" marL="0">
              <a:buNone/>
            </a:pPr>
            <a:r>
              <a:rPr lang="en-US" sz="850" dirty="0">
                <a:solidFill>
                  <a:srgbClr val="6B675F"/>
                </a:solidFill>
                <a:latin typeface="Inter" pitchFamily="34" charset="0"/>
                <a:ea typeface="Inter" pitchFamily="34" charset="-122"/>
                <a:cs typeface="Inter" pitchFamily="34" charset="-120"/>
              </a:rPr>
              <a:t>Demo ürün</a:t>
            </a:r>
            <a:endParaRPr lang="en-US" sz="850" dirty="0"/>
          </a:p>
        </p:txBody>
      </p:sp>
      <p:sp>
        <p:nvSpPr>
          <p:cNvPr id="34" name="Shape 29"/>
          <p:cNvSpPr/>
          <p:nvPr/>
        </p:nvSpPr>
        <p:spPr>
          <a:xfrm>
            <a:off x="4974336" y="5833872"/>
            <a:ext cx="1298448" cy="274320"/>
          </a:xfrm>
          <a:prstGeom prst="roundRect">
            <a:avLst>
              <a:gd name="adj" fmla="val 50000"/>
            </a:avLst>
          </a:prstGeom>
          <a:solidFill>
            <a:srgbClr val="D8B98C"/>
          </a:solidFill>
          <a:ln w="12700">
            <a:solidFill>
              <a:srgbClr val="D8B98C">
                <a:alpha val="0"/>
              </a:srgbClr>
            </a:solidFill>
            <a:prstDash val="solid"/>
          </a:ln>
        </p:spPr>
      </p:sp>
      <p:sp>
        <p:nvSpPr>
          <p:cNvPr id="35" name="Text 30"/>
          <p:cNvSpPr/>
          <p:nvPr/>
        </p:nvSpPr>
        <p:spPr>
          <a:xfrm>
            <a:off x="5056632" y="5852160"/>
            <a:ext cx="1133856" cy="237744"/>
          </a:xfrm>
          <a:prstGeom prst="rect">
            <a:avLst/>
          </a:prstGeom>
          <a:noFill/>
          <a:ln/>
        </p:spPr>
        <p:txBody>
          <a:bodyPr wrap="square" lIns="0" tIns="0" rIns="0" bIns="0" rtlCol="0" anchor="ctr">
            <a:normAutofit/>
          </a:bodyPr>
          <a:lstStyle/>
          <a:p>
            <a:pPr algn="ctr" indent="0" marL="0">
              <a:buNone/>
            </a:pPr>
            <a:r>
              <a:rPr lang="en-US" sz="880" b="1" dirty="0">
                <a:solidFill>
                  <a:srgbClr val="34422D"/>
                </a:solidFill>
                <a:latin typeface="Inter" pitchFamily="34" charset="0"/>
                <a:ea typeface="Inter" pitchFamily="34" charset="-122"/>
                <a:cs typeface="Inter" pitchFamily="34" charset="-120"/>
              </a:rPr>
              <a:t>DEMO ÖN SİPARİŞ</a:t>
            </a:r>
            <a:endParaRPr lang="en-US" sz="880" dirty="0"/>
          </a:p>
        </p:txBody>
      </p:sp>
      <p:sp>
        <p:nvSpPr>
          <p:cNvPr id="36" name="Text 31"/>
          <p:cNvSpPr/>
          <p:nvPr/>
        </p:nvSpPr>
        <p:spPr>
          <a:xfrm>
            <a:off x="7452360" y="2606040"/>
            <a:ext cx="3291840" cy="274320"/>
          </a:xfrm>
          <a:prstGeom prst="rect">
            <a:avLst/>
          </a:prstGeom>
          <a:noFill/>
          <a:ln/>
        </p:spPr>
        <p:txBody>
          <a:bodyPr wrap="square" lIns="0" tIns="0" rIns="0" bIns="0" rtlCol="0" anchor="ctr">
            <a:normAutofit/>
          </a:bodyPr>
          <a:lstStyle/>
          <a:p>
            <a:pPr algn="l" indent="0" marL="0">
              <a:buNone/>
            </a:pPr>
            <a:r>
              <a:rPr lang="en-US" sz="1000" b="1" spc="70" kern="0" dirty="0">
                <a:solidFill>
                  <a:srgbClr val="68734B"/>
                </a:solidFill>
                <a:latin typeface="Inter" pitchFamily="34" charset="0"/>
                <a:ea typeface="Inter" pitchFamily="34" charset="-122"/>
                <a:cs typeface="Inter" pitchFamily="34" charset="-120"/>
              </a:rPr>
              <a:t>CANLI DEMO ÖZELLİKLERİ</a:t>
            </a:r>
            <a:endParaRPr lang="en-US" sz="1000" dirty="0"/>
          </a:p>
        </p:txBody>
      </p:sp>
      <p:sp>
        <p:nvSpPr>
          <p:cNvPr id="37" name="Shape 32"/>
          <p:cNvSpPr/>
          <p:nvPr/>
        </p:nvSpPr>
        <p:spPr>
          <a:xfrm>
            <a:off x="7452360" y="3063240"/>
            <a:ext cx="411480" cy="246888"/>
          </a:xfrm>
          <a:prstGeom prst="roundRect">
            <a:avLst>
              <a:gd name="adj" fmla="val 50000"/>
            </a:avLst>
          </a:prstGeom>
          <a:solidFill>
            <a:srgbClr val="E9EDE2"/>
          </a:solidFill>
          <a:ln w="12700">
            <a:solidFill>
              <a:srgbClr val="E9EDE2">
                <a:alpha val="0"/>
              </a:srgbClr>
            </a:solidFill>
            <a:prstDash val="solid"/>
          </a:ln>
        </p:spPr>
      </p:sp>
      <p:sp>
        <p:nvSpPr>
          <p:cNvPr id="38" name="Text 33"/>
          <p:cNvSpPr/>
          <p:nvPr/>
        </p:nvSpPr>
        <p:spPr>
          <a:xfrm>
            <a:off x="7534656" y="3081528"/>
            <a:ext cx="246888" cy="210312"/>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01</a:t>
            </a:r>
            <a:endParaRPr lang="en-US" sz="880" dirty="0"/>
          </a:p>
        </p:txBody>
      </p:sp>
      <p:sp>
        <p:nvSpPr>
          <p:cNvPr id="39" name="Text 34"/>
          <p:cNvSpPr/>
          <p:nvPr/>
        </p:nvSpPr>
        <p:spPr>
          <a:xfrm>
            <a:off x="8001000" y="3054096"/>
            <a:ext cx="2560320" cy="237744"/>
          </a:xfrm>
          <a:prstGeom prst="rect">
            <a:avLst/>
          </a:prstGeom>
          <a:noFill/>
          <a:ln/>
        </p:spPr>
        <p:txBody>
          <a:bodyPr wrap="square" lIns="0" tIns="0" rIns="0" bIns="0" rtlCol="0" anchor="ctr">
            <a:normAutofit/>
          </a:bodyPr>
          <a:lstStyle/>
          <a:p>
            <a:pPr algn="l" indent="0" marL="0">
              <a:buNone/>
            </a:pPr>
            <a:r>
              <a:rPr lang="en-US" sz="1100" b="1" dirty="0">
                <a:solidFill>
                  <a:srgbClr val="34422D"/>
                </a:solidFill>
                <a:latin typeface="Inter" pitchFamily="34" charset="0"/>
                <a:ea typeface="Inter" pitchFamily="34" charset="-122"/>
                <a:cs typeface="Inter" pitchFamily="34" charset="-120"/>
              </a:rPr>
              <a:t>Tıklanabilir dijital menü</a:t>
            </a:r>
            <a:endParaRPr lang="en-US" sz="1100" dirty="0"/>
          </a:p>
        </p:txBody>
      </p:sp>
      <p:sp>
        <p:nvSpPr>
          <p:cNvPr id="40" name="Text 35"/>
          <p:cNvSpPr/>
          <p:nvPr/>
        </p:nvSpPr>
        <p:spPr>
          <a:xfrm>
            <a:off x="8001000" y="3319272"/>
            <a:ext cx="2743200" cy="237744"/>
          </a:xfrm>
          <a:prstGeom prst="rect">
            <a:avLst/>
          </a:prstGeom>
          <a:noFill/>
          <a:ln/>
        </p:spPr>
        <p:txBody>
          <a:bodyPr wrap="square" lIns="0" tIns="0" rIns="0" bIns="0" rtlCol="0" anchor="ctr">
            <a:normAutofit/>
          </a:bodyPr>
          <a:lstStyle/>
          <a:p>
            <a:pPr algn="l" indent="0" marL="0">
              <a:buNone/>
            </a:pPr>
            <a:r>
              <a:rPr lang="en-US" sz="930" dirty="0">
                <a:solidFill>
                  <a:srgbClr val="6B675F"/>
                </a:solidFill>
                <a:latin typeface="Inter" pitchFamily="34" charset="0"/>
                <a:ea typeface="Inter" pitchFamily="34" charset="-122"/>
                <a:cs typeface="Inter" pitchFamily="34" charset="-120"/>
              </a:rPr>
              <a:t>Kategori filtresi ve ürün detayları</a:t>
            </a:r>
            <a:endParaRPr lang="en-US" sz="930" dirty="0"/>
          </a:p>
        </p:txBody>
      </p:sp>
      <p:sp>
        <p:nvSpPr>
          <p:cNvPr id="41" name="Shape 36"/>
          <p:cNvSpPr/>
          <p:nvPr/>
        </p:nvSpPr>
        <p:spPr>
          <a:xfrm>
            <a:off x="7452360" y="3776472"/>
            <a:ext cx="411480" cy="246888"/>
          </a:xfrm>
          <a:prstGeom prst="roundRect">
            <a:avLst>
              <a:gd name="adj" fmla="val 50000"/>
            </a:avLst>
          </a:prstGeom>
          <a:solidFill>
            <a:srgbClr val="E9EDE2"/>
          </a:solidFill>
          <a:ln w="12700">
            <a:solidFill>
              <a:srgbClr val="E9EDE2">
                <a:alpha val="0"/>
              </a:srgbClr>
            </a:solidFill>
            <a:prstDash val="solid"/>
          </a:ln>
        </p:spPr>
      </p:sp>
      <p:sp>
        <p:nvSpPr>
          <p:cNvPr id="42" name="Text 37"/>
          <p:cNvSpPr/>
          <p:nvPr/>
        </p:nvSpPr>
        <p:spPr>
          <a:xfrm>
            <a:off x="7534656" y="3794760"/>
            <a:ext cx="246888" cy="210312"/>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02</a:t>
            </a:r>
            <a:endParaRPr lang="en-US" sz="880" dirty="0"/>
          </a:p>
        </p:txBody>
      </p:sp>
      <p:sp>
        <p:nvSpPr>
          <p:cNvPr id="43" name="Text 38"/>
          <p:cNvSpPr/>
          <p:nvPr/>
        </p:nvSpPr>
        <p:spPr>
          <a:xfrm>
            <a:off x="8001000" y="3767328"/>
            <a:ext cx="2560320" cy="237744"/>
          </a:xfrm>
          <a:prstGeom prst="rect">
            <a:avLst/>
          </a:prstGeom>
          <a:noFill/>
          <a:ln/>
        </p:spPr>
        <p:txBody>
          <a:bodyPr wrap="square" lIns="0" tIns="0" rIns="0" bIns="0" rtlCol="0" anchor="ctr">
            <a:normAutofit/>
          </a:bodyPr>
          <a:lstStyle/>
          <a:p>
            <a:pPr algn="l" indent="0" marL="0">
              <a:buNone/>
            </a:pPr>
            <a:r>
              <a:rPr lang="en-US" sz="1100" b="1" dirty="0">
                <a:solidFill>
                  <a:srgbClr val="34422D"/>
                </a:solidFill>
                <a:latin typeface="Inter" pitchFamily="34" charset="0"/>
                <a:ea typeface="Inter" pitchFamily="34" charset="-122"/>
                <a:cs typeface="Inter" pitchFamily="34" charset="-120"/>
              </a:rPr>
              <a:t>B+ Moments</a:t>
            </a:r>
            <a:endParaRPr lang="en-US" sz="1100" dirty="0"/>
          </a:p>
        </p:txBody>
      </p:sp>
      <p:sp>
        <p:nvSpPr>
          <p:cNvPr id="44" name="Text 39"/>
          <p:cNvSpPr/>
          <p:nvPr/>
        </p:nvSpPr>
        <p:spPr>
          <a:xfrm>
            <a:off x="8001000" y="4032504"/>
            <a:ext cx="2743200" cy="237744"/>
          </a:xfrm>
          <a:prstGeom prst="rect">
            <a:avLst/>
          </a:prstGeom>
          <a:noFill/>
          <a:ln/>
        </p:spPr>
        <p:txBody>
          <a:bodyPr wrap="square" lIns="0" tIns="0" rIns="0" bIns="0" rtlCol="0" anchor="ctr">
            <a:normAutofit/>
          </a:bodyPr>
          <a:lstStyle/>
          <a:p>
            <a:pPr algn="l" indent="0" marL="0">
              <a:buNone/>
            </a:pPr>
            <a:r>
              <a:rPr lang="en-US" sz="930" dirty="0">
                <a:solidFill>
                  <a:srgbClr val="6B675F"/>
                </a:solidFill>
                <a:latin typeface="Inter" pitchFamily="34" charset="0"/>
                <a:ea typeface="Inter" pitchFamily="34" charset="-122"/>
                <a:cs typeface="Inter" pitchFamily="34" charset="-120"/>
              </a:rPr>
              <a:t>08:00 / 12:30 / 15:00</a:t>
            </a:r>
            <a:endParaRPr lang="en-US" sz="930" dirty="0"/>
          </a:p>
        </p:txBody>
      </p:sp>
      <p:sp>
        <p:nvSpPr>
          <p:cNvPr id="45" name="Shape 40"/>
          <p:cNvSpPr/>
          <p:nvPr/>
        </p:nvSpPr>
        <p:spPr>
          <a:xfrm>
            <a:off x="7452360" y="4489704"/>
            <a:ext cx="411480" cy="246888"/>
          </a:xfrm>
          <a:prstGeom prst="roundRect">
            <a:avLst>
              <a:gd name="adj" fmla="val 50000"/>
            </a:avLst>
          </a:prstGeom>
          <a:solidFill>
            <a:srgbClr val="E9EDE2"/>
          </a:solidFill>
          <a:ln w="12700">
            <a:solidFill>
              <a:srgbClr val="E9EDE2">
                <a:alpha val="0"/>
              </a:srgbClr>
            </a:solidFill>
            <a:prstDash val="solid"/>
          </a:ln>
        </p:spPr>
      </p:sp>
      <p:sp>
        <p:nvSpPr>
          <p:cNvPr id="46" name="Text 41"/>
          <p:cNvSpPr/>
          <p:nvPr/>
        </p:nvSpPr>
        <p:spPr>
          <a:xfrm>
            <a:off x="7534656" y="4507992"/>
            <a:ext cx="246888" cy="210312"/>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03</a:t>
            </a:r>
            <a:endParaRPr lang="en-US" sz="880" dirty="0"/>
          </a:p>
        </p:txBody>
      </p:sp>
      <p:sp>
        <p:nvSpPr>
          <p:cNvPr id="47" name="Text 42"/>
          <p:cNvSpPr/>
          <p:nvPr/>
        </p:nvSpPr>
        <p:spPr>
          <a:xfrm>
            <a:off x="8001000" y="4480560"/>
            <a:ext cx="2560320" cy="237744"/>
          </a:xfrm>
          <a:prstGeom prst="rect">
            <a:avLst/>
          </a:prstGeom>
          <a:noFill/>
          <a:ln/>
        </p:spPr>
        <p:txBody>
          <a:bodyPr wrap="square" lIns="0" tIns="0" rIns="0" bIns="0" rtlCol="0" anchor="ctr">
            <a:normAutofit/>
          </a:bodyPr>
          <a:lstStyle/>
          <a:p>
            <a:pPr algn="l" indent="0" marL="0">
              <a:buNone/>
            </a:pPr>
            <a:r>
              <a:rPr lang="en-US" sz="1100" b="1" dirty="0">
                <a:solidFill>
                  <a:srgbClr val="34422D"/>
                </a:solidFill>
                <a:latin typeface="Inter" pitchFamily="34" charset="0"/>
                <a:ea typeface="Inter" pitchFamily="34" charset="-122"/>
                <a:cs typeface="Inter" pitchFamily="34" charset="-120"/>
              </a:rPr>
              <a:t>Örnek lokasyon</a:t>
            </a:r>
            <a:endParaRPr lang="en-US" sz="1100" dirty="0"/>
          </a:p>
        </p:txBody>
      </p:sp>
      <p:sp>
        <p:nvSpPr>
          <p:cNvPr id="48" name="Text 43"/>
          <p:cNvSpPr/>
          <p:nvPr/>
        </p:nvSpPr>
        <p:spPr>
          <a:xfrm>
            <a:off x="8001000" y="4745736"/>
            <a:ext cx="2743200" cy="237744"/>
          </a:xfrm>
          <a:prstGeom prst="rect">
            <a:avLst/>
          </a:prstGeom>
          <a:noFill/>
          <a:ln/>
        </p:spPr>
        <p:txBody>
          <a:bodyPr wrap="square" lIns="0" tIns="0" rIns="0" bIns="0" rtlCol="0" anchor="ctr">
            <a:normAutofit/>
          </a:bodyPr>
          <a:lstStyle/>
          <a:p>
            <a:pPr algn="l" indent="0" marL="0">
              <a:buNone/>
            </a:pPr>
            <a:r>
              <a:rPr lang="en-US" sz="930" dirty="0">
                <a:solidFill>
                  <a:srgbClr val="6B675F"/>
                </a:solidFill>
                <a:latin typeface="Inter" pitchFamily="34" charset="0"/>
                <a:ea typeface="Inter" pitchFamily="34" charset="-122"/>
                <a:cs typeface="Inter" pitchFamily="34" charset="-120"/>
              </a:rPr>
              <a:t>TBD / demo sınırı açık</a:t>
            </a:r>
            <a:endParaRPr lang="en-US" sz="930" dirty="0"/>
          </a:p>
        </p:txBody>
      </p:sp>
      <p:sp>
        <p:nvSpPr>
          <p:cNvPr id="49" name="Shape 44"/>
          <p:cNvSpPr/>
          <p:nvPr/>
        </p:nvSpPr>
        <p:spPr>
          <a:xfrm>
            <a:off x="7452360" y="5202936"/>
            <a:ext cx="411480" cy="246888"/>
          </a:xfrm>
          <a:prstGeom prst="roundRect">
            <a:avLst>
              <a:gd name="adj" fmla="val 50000"/>
            </a:avLst>
          </a:prstGeom>
          <a:solidFill>
            <a:srgbClr val="E9EDE2"/>
          </a:solidFill>
          <a:ln w="12700">
            <a:solidFill>
              <a:srgbClr val="E9EDE2">
                <a:alpha val="0"/>
              </a:srgbClr>
            </a:solidFill>
            <a:prstDash val="solid"/>
          </a:ln>
        </p:spPr>
      </p:sp>
      <p:sp>
        <p:nvSpPr>
          <p:cNvPr id="50" name="Text 45"/>
          <p:cNvSpPr/>
          <p:nvPr/>
        </p:nvSpPr>
        <p:spPr>
          <a:xfrm>
            <a:off x="7534656" y="5221224"/>
            <a:ext cx="246888" cy="210312"/>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04</a:t>
            </a:r>
            <a:endParaRPr lang="en-US" sz="880" dirty="0"/>
          </a:p>
        </p:txBody>
      </p:sp>
      <p:sp>
        <p:nvSpPr>
          <p:cNvPr id="51" name="Text 46"/>
          <p:cNvSpPr/>
          <p:nvPr/>
        </p:nvSpPr>
        <p:spPr>
          <a:xfrm>
            <a:off x="8001000" y="5193792"/>
            <a:ext cx="2560320" cy="237744"/>
          </a:xfrm>
          <a:prstGeom prst="rect">
            <a:avLst/>
          </a:prstGeom>
          <a:noFill/>
          <a:ln/>
        </p:spPr>
        <p:txBody>
          <a:bodyPr wrap="square" lIns="0" tIns="0" rIns="0" bIns="0" rtlCol="0" anchor="ctr">
            <a:normAutofit/>
          </a:bodyPr>
          <a:lstStyle/>
          <a:p>
            <a:pPr algn="l" indent="0" marL="0">
              <a:buNone/>
            </a:pPr>
            <a:r>
              <a:rPr lang="en-US" sz="1100" b="1" dirty="0">
                <a:solidFill>
                  <a:srgbClr val="34422D"/>
                </a:solidFill>
                <a:latin typeface="Inter" pitchFamily="34" charset="0"/>
                <a:ea typeface="Inter" pitchFamily="34" charset="-122"/>
                <a:cs typeface="Inter" pitchFamily="34" charset="-120"/>
              </a:rPr>
              <a:t>Demo ön sipariş</a:t>
            </a:r>
            <a:endParaRPr lang="en-US" sz="1100" dirty="0"/>
          </a:p>
        </p:txBody>
      </p:sp>
      <p:sp>
        <p:nvSpPr>
          <p:cNvPr id="52" name="Text 47"/>
          <p:cNvSpPr/>
          <p:nvPr/>
        </p:nvSpPr>
        <p:spPr>
          <a:xfrm>
            <a:off x="8001000" y="5458968"/>
            <a:ext cx="2743200" cy="237744"/>
          </a:xfrm>
          <a:prstGeom prst="rect">
            <a:avLst/>
          </a:prstGeom>
          <a:noFill/>
          <a:ln/>
        </p:spPr>
        <p:txBody>
          <a:bodyPr wrap="square" lIns="0" tIns="0" rIns="0" bIns="0" rtlCol="0" anchor="ctr">
            <a:normAutofit/>
          </a:bodyPr>
          <a:lstStyle/>
          <a:p>
            <a:pPr algn="l" indent="0" marL="0">
              <a:buNone/>
            </a:pPr>
            <a:r>
              <a:rPr lang="en-US" sz="930" dirty="0">
                <a:solidFill>
                  <a:srgbClr val="6B675F"/>
                </a:solidFill>
                <a:latin typeface="Inter" pitchFamily="34" charset="0"/>
                <a:ea typeface="Inter" pitchFamily="34" charset="-122"/>
                <a:cs typeface="Inter" pitchFamily="34" charset="-120"/>
              </a:rPr>
              <a:t>Gerçek ödeme yok</a:t>
            </a:r>
            <a:endParaRPr lang="en-US" sz="93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8D8A80"/>
                </a:solidFill>
                <a:latin typeface="Inter"/>
                <a:ea typeface="Inter"/>
                <a:cs typeface="Inter"/>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621792"/>
            <a:ext cx="4480560" cy="237744"/>
          </a:xfrm>
          <a:prstGeom prst="rect">
            <a:avLst/>
          </a:prstGeom>
          <a:noFill/>
          <a:ln/>
        </p:spPr>
        <p:txBody>
          <a:bodyPr wrap="square" lIns="0" tIns="0" rIns="0" bIns="0" rtlCol="0" anchor="ctr">
            <a:normAutofit/>
          </a:bodyPr>
          <a:lstStyle/>
          <a:p>
            <a:pPr algn="l" indent="0" marL="0">
              <a:buNone/>
            </a:pPr>
            <a:r>
              <a:rPr lang="en-US" sz="900" b="1" spc="125" kern="0" dirty="0">
                <a:solidFill>
                  <a:srgbClr val="68734B"/>
                </a:solidFill>
                <a:latin typeface="Inter" pitchFamily="34" charset="0"/>
                <a:ea typeface="Inter" pitchFamily="34" charset="-122"/>
                <a:cs typeface="Inter" pitchFamily="34" charset="-120"/>
              </a:rPr>
              <a:t>05 / YAPAY ZEKÂ VITRINI</a:t>
            </a:r>
            <a:endParaRPr lang="en-US" sz="900" dirty="0"/>
          </a:p>
        </p:txBody>
      </p:sp>
      <p:sp>
        <p:nvSpPr>
          <p:cNvPr id="3" name="Text 1"/>
          <p:cNvSpPr/>
          <p:nvPr/>
        </p:nvSpPr>
        <p:spPr>
          <a:xfrm>
            <a:off x="594360" y="941832"/>
            <a:ext cx="10789920" cy="658368"/>
          </a:xfrm>
          <a:prstGeom prst="rect">
            <a:avLst/>
          </a:prstGeom>
          <a:noFill/>
          <a:ln/>
        </p:spPr>
        <p:txBody>
          <a:bodyPr wrap="square" lIns="0" tIns="0" rIns="0" bIns="0" rtlCol="0" anchor="ctr">
            <a:normAutofit/>
          </a:bodyPr>
          <a:lstStyle/>
          <a:p>
            <a:pPr algn="l" indent="0" marL="0">
              <a:buNone/>
            </a:pPr>
            <a:r>
              <a:rPr lang="en-US" sz="2800" b="1" dirty="0">
                <a:solidFill>
                  <a:srgbClr val="34422D"/>
                </a:solidFill>
                <a:latin typeface="Inter" pitchFamily="34" charset="0"/>
                <a:ea typeface="Inter" pitchFamily="34" charset="-122"/>
                <a:cs typeface="Inter" pitchFamily="34" charset="-120"/>
              </a:rPr>
              <a:t>B+ AI Barista, menü kararını kolaylaştıran bir prototip katmanı.</a:t>
            </a:r>
            <a:endParaRPr lang="en-US" sz="2800" dirty="0"/>
          </a:p>
        </p:txBody>
      </p:sp>
      <p:sp>
        <p:nvSpPr>
          <p:cNvPr id="4" name="Text 2"/>
          <p:cNvSpPr/>
          <p:nvPr/>
        </p:nvSpPr>
        <p:spPr>
          <a:xfrm>
            <a:off x="594360" y="1664208"/>
            <a:ext cx="10607040" cy="457200"/>
          </a:xfrm>
          <a:prstGeom prst="rect">
            <a:avLst/>
          </a:prstGeom>
          <a:noFill/>
          <a:ln/>
        </p:spPr>
        <p:txBody>
          <a:bodyPr wrap="square" lIns="0" tIns="0" rIns="0" bIns="0" rtlCol="0" anchor="ctr">
            <a:normAutofit/>
          </a:bodyPr>
          <a:lstStyle/>
          <a:p>
            <a:pPr algn="l" indent="0" marL="0">
              <a:buNone/>
            </a:pPr>
            <a:r>
              <a:rPr lang="en-US" sz="1250" dirty="0">
                <a:solidFill>
                  <a:srgbClr val="6B675F"/>
                </a:solidFill>
                <a:latin typeface="Inter" pitchFamily="34" charset="0"/>
                <a:ea typeface="Inter" pitchFamily="34" charset="-122"/>
                <a:cs typeface="Inter" pitchFamily="34" charset="-120"/>
              </a:rPr>
              <a:t>Bir demo bugün çalışıyor; iki ek AI kullanım senaryosu gelecek faz için tanımlı.</a:t>
            </a:r>
            <a:endParaRPr lang="en-US" sz="1250" dirty="0"/>
          </a:p>
        </p:txBody>
      </p:sp>
      <p:sp>
        <p:nvSpPr>
          <p:cNvPr id="5" name="Shape 3"/>
          <p:cNvSpPr/>
          <p:nvPr/>
        </p:nvSpPr>
        <p:spPr>
          <a:xfrm>
            <a:off x="594360" y="2423160"/>
            <a:ext cx="3931920" cy="859536"/>
          </a:xfrm>
          <a:prstGeom prst="roundRect">
            <a:avLst>
              <a:gd name="adj" fmla="val 24468"/>
            </a:avLst>
          </a:prstGeom>
          <a:solidFill>
            <a:srgbClr val="34422D"/>
          </a:solidFill>
          <a:ln w="12700">
            <a:solidFill>
              <a:srgbClr val="E3DEC3"/>
            </a:solidFill>
            <a:prstDash val="solid"/>
          </a:ln>
        </p:spPr>
      </p:sp>
      <p:sp>
        <p:nvSpPr>
          <p:cNvPr id="6" name="Shape 4"/>
          <p:cNvSpPr/>
          <p:nvPr/>
        </p:nvSpPr>
        <p:spPr>
          <a:xfrm>
            <a:off x="804672" y="2587752"/>
            <a:ext cx="420624" cy="246888"/>
          </a:xfrm>
          <a:prstGeom prst="roundRect">
            <a:avLst>
              <a:gd name="adj" fmla="val 50000"/>
            </a:avLst>
          </a:prstGeom>
          <a:solidFill>
            <a:srgbClr val="D8B98C"/>
          </a:solidFill>
          <a:ln w="12700">
            <a:solidFill>
              <a:srgbClr val="D8B98C">
                <a:alpha val="0"/>
              </a:srgbClr>
            </a:solidFill>
            <a:prstDash val="solid"/>
          </a:ln>
        </p:spPr>
      </p:sp>
      <p:sp>
        <p:nvSpPr>
          <p:cNvPr id="7" name="Text 5"/>
          <p:cNvSpPr/>
          <p:nvPr/>
        </p:nvSpPr>
        <p:spPr>
          <a:xfrm>
            <a:off x="886968" y="2606040"/>
            <a:ext cx="256032" cy="210312"/>
          </a:xfrm>
          <a:prstGeom prst="rect">
            <a:avLst/>
          </a:prstGeom>
          <a:noFill/>
          <a:ln/>
        </p:spPr>
        <p:txBody>
          <a:bodyPr wrap="square" lIns="0" tIns="0" rIns="0" bIns="0" rtlCol="0" anchor="ctr">
            <a:normAutofit/>
          </a:bodyPr>
          <a:lstStyle/>
          <a:p>
            <a:pPr algn="ctr" indent="0" marL="0">
              <a:buNone/>
            </a:pPr>
            <a:r>
              <a:rPr lang="en-US" sz="880" b="1" dirty="0">
                <a:solidFill>
                  <a:srgbClr val="34422D"/>
                </a:solidFill>
                <a:latin typeface="Inter" pitchFamily="34" charset="0"/>
                <a:ea typeface="Inter" pitchFamily="34" charset="-122"/>
                <a:cs typeface="Inter" pitchFamily="34" charset="-120"/>
              </a:rPr>
              <a:t>01</a:t>
            </a:r>
            <a:endParaRPr lang="en-US" sz="880" dirty="0"/>
          </a:p>
        </p:txBody>
      </p:sp>
      <p:sp>
        <p:nvSpPr>
          <p:cNvPr id="8" name="Text 6"/>
          <p:cNvSpPr/>
          <p:nvPr/>
        </p:nvSpPr>
        <p:spPr>
          <a:xfrm>
            <a:off x="1417320" y="2569464"/>
            <a:ext cx="1691640" cy="256032"/>
          </a:xfrm>
          <a:prstGeom prst="rect">
            <a:avLst/>
          </a:prstGeom>
          <a:noFill/>
          <a:ln/>
        </p:spPr>
        <p:txBody>
          <a:bodyPr wrap="square" lIns="0" tIns="0" rIns="0" bIns="0" rtlCol="0" anchor="ctr">
            <a:normAutofit/>
          </a:bodyPr>
          <a:lstStyle/>
          <a:p>
            <a:pPr algn="l" indent="0" marL="0">
              <a:buNone/>
            </a:pPr>
            <a:r>
              <a:rPr lang="en-US" sz="1100" b="1" dirty="0">
                <a:solidFill>
                  <a:srgbClr val="F4F0E6"/>
                </a:solidFill>
                <a:latin typeface="Inter" pitchFamily="34" charset="0"/>
                <a:ea typeface="Inter" pitchFamily="34" charset="-122"/>
                <a:cs typeface="Inter" pitchFamily="34" charset="-120"/>
              </a:rPr>
              <a:t>B+ AI Barista</a:t>
            </a:r>
            <a:endParaRPr lang="en-US" sz="1100" dirty="0"/>
          </a:p>
        </p:txBody>
      </p:sp>
      <p:sp>
        <p:nvSpPr>
          <p:cNvPr id="9" name="Text 7"/>
          <p:cNvSpPr/>
          <p:nvPr/>
        </p:nvSpPr>
        <p:spPr>
          <a:xfrm>
            <a:off x="1417320" y="2862072"/>
            <a:ext cx="2743200" cy="237744"/>
          </a:xfrm>
          <a:prstGeom prst="rect">
            <a:avLst/>
          </a:prstGeom>
          <a:noFill/>
          <a:ln/>
        </p:spPr>
        <p:txBody>
          <a:bodyPr wrap="square" lIns="0" tIns="0" rIns="0" bIns="0" rtlCol="0" anchor="ctr">
            <a:normAutofit/>
          </a:bodyPr>
          <a:lstStyle/>
          <a:p>
            <a:pPr algn="l" indent="0" marL="0">
              <a:buNone/>
            </a:pPr>
            <a:r>
              <a:rPr lang="en-US" sz="910" dirty="0">
                <a:solidFill>
                  <a:srgbClr val="DDE4D8"/>
                </a:solidFill>
                <a:latin typeface="Inter" pitchFamily="34" charset="0"/>
                <a:ea typeface="Inter" pitchFamily="34" charset="-122"/>
                <a:cs typeface="Inter" pitchFamily="34" charset="-120"/>
              </a:rPr>
              <a:t>Tercihlere göre demo katalogdan içecek eşleşmesi.</a:t>
            </a:r>
            <a:endParaRPr lang="en-US" sz="910" dirty="0"/>
          </a:p>
        </p:txBody>
      </p:sp>
      <p:sp>
        <p:nvSpPr>
          <p:cNvPr id="10" name="Shape 8"/>
          <p:cNvSpPr/>
          <p:nvPr/>
        </p:nvSpPr>
        <p:spPr>
          <a:xfrm>
            <a:off x="594360" y="3483864"/>
            <a:ext cx="3931920" cy="859536"/>
          </a:xfrm>
          <a:prstGeom prst="roundRect">
            <a:avLst>
              <a:gd name="adj" fmla="val 24468"/>
            </a:avLst>
          </a:prstGeom>
          <a:solidFill>
            <a:srgbClr val="FFFFFF"/>
          </a:solidFill>
          <a:ln w="12700">
            <a:solidFill>
              <a:srgbClr val="E3DEC3"/>
            </a:solidFill>
            <a:prstDash val="solid"/>
          </a:ln>
        </p:spPr>
      </p:sp>
      <p:sp>
        <p:nvSpPr>
          <p:cNvPr id="11" name="Shape 9"/>
          <p:cNvSpPr/>
          <p:nvPr/>
        </p:nvSpPr>
        <p:spPr>
          <a:xfrm>
            <a:off x="804672" y="3648456"/>
            <a:ext cx="420624" cy="246888"/>
          </a:xfrm>
          <a:prstGeom prst="roundRect">
            <a:avLst>
              <a:gd name="adj" fmla="val 50000"/>
            </a:avLst>
          </a:prstGeom>
          <a:solidFill>
            <a:srgbClr val="E9EDE2"/>
          </a:solidFill>
          <a:ln w="12700">
            <a:solidFill>
              <a:srgbClr val="E9EDE2">
                <a:alpha val="0"/>
              </a:srgbClr>
            </a:solidFill>
            <a:prstDash val="solid"/>
          </a:ln>
        </p:spPr>
      </p:sp>
      <p:sp>
        <p:nvSpPr>
          <p:cNvPr id="12" name="Text 10"/>
          <p:cNvSpPr/>
          <p:nvPr/>
        </p:nvSpPr>
        <p:spPr>
          <a:xfrm>
            <a:off x="886968" y="3666744"/>
            <a:ext cx="256032" cy="210312"/>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02</a:t>
            </a:r>
            <a:endParaRPr lang="en-US" sz="880" dirty="0"/>
          </a:p>
        </p:txBody>
      </p:sp>
      <p:sp>
        <p:nvSpPr>
          <p:cNvPr id="13" name="Text 11"/>
          <p:cNvSpPr/>
          <p:nvPr/>
        </p:nvSpPr>
        <p:spPr>
          <a:xfrm>
            <a:off x="1417320" y="3630168"/>
            <a:ext cx="1691640" cy="256032"/>
          </a:xfrm>
          <a:prstGeom prst="rect">
            <a:avLst/>
          </a:prstGeom>
          <a:noFill/>
          <a:ln/>
        </p:spPr>
        <p:txBody>
          <a:bodyPr wrap="square" lIns="0" tIns="0" rIns="0" bIns="0" rtlCol="0" anchor="ctr">
            <a:normAutofit/>
          </a:bodyPr>
          <a:lstStyle/>
          <a:p>
            <a:pPr algn="l" indent="0" marL="0">
              <a:buNone/>
            </a:pPr>
            <a:r>
              <a:rPr lang="en-US" sz="1100" b="1" dirty="0">
                <a:solidFill>
                  <a:srgbClr val="34422D"/>
                </a:solidFill>
                <a:latin typeface="Inter" pitchFamily="34" charset="0"/>
                <a:ea typeface="Inter" pitchFamily="34" charset="-122"/>
                <a:cs typeface="Inter" pitchFamily="34" charset="-120"/>
              </a:rPr>
              <a:t>Menü &amp; Alerjen Danışmanı</a:t>
            </a:r>
            <a:endParaRPr lang="en-US" sz="1100" dirty="0"/>
          </a:p>
        </p:txBody>
      </p:sp>
      <p:sp>
        <p:nvSpPr>
          <p:cNvPr id="14" name="Text 12"/>
          <p:cNvSpPr/>
          <p:nvPr/>
        </p:nvSpPr>
        <p:spPr>
          <a:xfrm>
            <a:off x="1417320" y="3922776"/>
            <a:ext cx="2743200" cy="237744"/>
          </a:xfrm>
          <a:prstGeom prst="rect">
            <a:avLst/>
          </a:prstGeom>
          <a:noFill/>
          <a:ln/>
        </p:spPr>
        <p:txBody>
          <a:bodyPr wrap="square" lIns="0" tIns="0" rIns="0" bIns="0" rtlCol="0" anchor="ctr">
            <a:normAutofit/>
          </a:bodyPr>
          <a:lstStyle/>
          <a:p>
            <a:pPr algn="l" indent="0" marL="0">
              <a:buNone/>
            </a:pPr>
            <a:r>
              <a:rPr lang="en-US" sz="910" dirty="0">
                <a:solidFill>
                  <a:srgbClr val="6B675F"/>
                </a:solidFill>
                <a:latin typeface="Inter" pitchFamily="34" charset="0"/>
                <a:ea typeface="Inter" pitchFamily="34" charset="-122"/>
                <a:cs typeface="Inter" pitchFamily="34" charset="-120"/>
              </a:rPr>
              <a:t>Doğrulanmış menü verisiyle soru-cevap.</a:t>
            </a:r>
            <a:endParaRPr lang="en-US" sz="910" dirty="0"/>
          </a:p>
        </p:txBody>
      </p:sp>
      <p:sp>
        <p:nvSpPr>
          <p:cNvPr id="15" name="Shape 13"/>
          <p:cNvSpPr/>
          <p:nvPr/>
        </p:nvSpPr>
        <p:spPr>
          <a:xfrm>
            <a:off x="594360" y="4544568"/>
            <a:ext cx="3931920" cy="859536"/>
          </a:xfrm>
          <a:prstGeom prst="roundRect">
            <a:avLst>
              <a:gd name="adj" fmla="val 24468"/>
            </a:avLst>
          </a:prstGeom>
          <a:solidFill>
            <a:srgbClr val="FFFFFF"/>
          </a:solidFill>
          <a:ln w="12700">
            <a:solidFill>
              <a:srgbClr val="E3DEC3"/>
            </a:solidFill>
            <a:prstDash val="solid"/>
          </a:ln>
        </p:spPr>
      </p:sp>
      <p:sp>
        <p:nvSpPr>
          <p:cNvPr id="16" name="Shape 14"/>
          <p:cNvSpPr/>
          <p:nvPr/>
        </p:nvSpPr>
        <p:spPr>
          <a:xfrm>
            <a:off x="804672" y="4709160"/>
            <a:ext cx="420624" cy="246888"/>
          </a:xfrm>
          <a:prstGeom prst="roundRect">
            <a:avLst>
              <a:gd name="adj" fmla="val 50000"/>
            </a:avLst>
          </a:prstGeom>
          <a:solidFill>
            <a:srgbClr val="E9EDE2"/>
          </a:solidFill>
          <a:ln w="12700">
            <a:solidFill>
              <a:srgbClr val="E9EDE2">
                <a:alpha val="0"/>
              </a:srgbClr>
            </a:solidFill>
            <a:prstDash val="solid"/>
          </a:ln>
        </p:spPr>
      </p:sp>
      <p:sp>
        <p:nvSpPr>
          <p:cNvPr id="17" name="Text 15"/>
          <p:cNvSpPr/>
          <p:nvPr/>
        </p:nvSpPr>
        <p:spPr>
          <a:xfrm>
            <a:off x="886968" y="4727448"/>
            <a:ext cx="256032" cy="210312"/>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03</a:t>
            </a:r>
            <a:endParaRPr lang="en-US" sz="880" dirty="0"/>
          </a:p>
        </p:txBody>
      </p:sp>
      <p:sp>
        <p:nvSpPr>
          <p:cNvPr id="18" name="Text 16"/>
          <p:cNvSpPr/>
          <p:nvPr/>
        </p:nvSpPr>
        <p:spPr>
          <a:xfrm>
            <a:off x="1417320" y="4690872"/>
            <a:ext cx="1691640" cy="256032"/>
          </a:xfrm>
          <a:prstGeom prst="rect">
            <a:avLst/>
          </a:prstGeom>
          <a:noFill/>
          <a:ln/>
        </p:spPr>
        <p:txBody>
          <a:bodyPr wrap="square" lIns="0" tIns="0" rIns="0" bIns="0" rtlCol="0" anchor="ctr">
            <a:normAutofit/>
          </a:bodyPr>
          <a:lstStyle/>
          <a:p>
            <a:pPr algn="l" indent="0" marL="0">
              <a:buNone/>
            </a:pPr>
            <a:r>
              <a:rPr lang="en-US" sz="1100" b="1" dirty="0">
                <a:solidFill>
                  <a:srgbClr val="34422D"/>
                </a:solidFill>
                <a:latin typeface="Inter" pitchFamily="34" charset="0"/>
                <a:ea typeface="Inter" pitchFamily="34" charset="-122"/>
                <a:cs typeface="Inter" pitchFamily="34" charset="-120"/>
              </a:rPr>
              <a:t>Sosyal İçerik Yardımcısı</a:t>
            </a:r>
            <a:endParaRPr lang="en-US" sz="1100" dirty="0"/>
          </a:p>
        </p:txBody>
      </p:sp>
      <p:sp>
        <p:nvSpPr>
          <p:cNvPr id="19" name="Text 17"/>
          <p:cNvSpPr/>
          <p:nvPr/>
        </p:nvSpPr>
        <p:spPr>
          <a:xfrm>
            <a:off x="1417320" y="4983480"/>
            <a:ext cx="2743200" cy="237744"/>
          </a:xfrm>
          <a:prstGeom prst="rect">
            <a:avLst/>
          </a:prstGeom>
          <a:noFill/>
          <a:ln/>
        </p:spPr>
        <p:txBody>
          <a:bodyPr wrap="square" lIns="0" tIns="0" rIns="0" bIns="0" rtlCol="0" anchor="ctr">
            <a:normAutofit/>
          </a:bodyPr>
          <a:lstStyle/>
          <a:p>
            <a:pPr algn="l" indent="0" marL="0">
              <a:buNone/>
            </a:pPr>
            <a:r>
              <a:rPr lang="en-US" sz="910" dirty="0">
                <a:solidFill>
                  <a:srgbClr val="6B675F"/>
                </a:solidFill>
                <a:latin typeface="Inter" pitchFamily="34" charset="0"/>
                <a:ea typeface="Inter" pitchFamily="34" charset="-122"/>
                <a:cs typeface="Inter" pitchFamily="34" charset="-120"/>
              </a:rPr>
              <a:t>Ürün verisinden taslak üretir; insan onayı gerekir.</a:t>
            </a:r>
            <a:endParaRPr lang="en-US" sz="910" dirty="0"/>
          </a:p>
        </p:txBody>
      </p:sp>
      <p:sp>
        <p:nvSpPr>
          <p:cNvPr id="20" name="Shape 18"/>
          <p:cNvSpPr/>
          <p:nvPr/>
        </p:nvSpPr>
        <p:spPr>
          <a:xfrm>
            <a:off x="4892040" y="2331720"/>
            <a:ext cx="6629400" cy="3749040"/>
          </a:xfrm>
          <a:prstGeom prst="roundRect">
            <a:avLst>
              <a:gd name="adj" fmla="val 7317"/>
            </a:avLst>
          </a:prstGeom>
          <a:solidFill>
            <a:srgbClr val="34422D"/>
          </a:solidFill>
          <a:ln w="12700">
            <a:solidFill>
              <a:srgbClr val="34422D">
                <a:alpha val="0"/>
              </a:srgbClr>
            </a:solidFill>
            <a:prstDash val="solid"/>
          </a:ln>
        </p:spPr>
      </p:sp>
      <p:sp>
        <p:nvSpPr>
          <p:cNvPr id="21" name="Shape 19"/>
          <p:cNvSpPr/>
          <p:nvPr/>
        </p:nvSpPr>
        <p:spPr>
          <a:xfrm>
            <a:off x="5257800" y="2651760"/>
            <a:ext cx="2029968" cy="274320"/>
          </a:xfrm>
          <a:prstGeom prst="roundRect">
            <a:avLst>
              <a:gd name="adj" fmla="val 50000"/>
            </a:avLst>
          </a:prstGeom>
          <a:solidFill>
            <a:srgbClr val="56634E"/>
          </a:solidFill>
          <a:ln w="12700">
            <a:solidFill>
              <a:srgbClr val="56634E">
                <a:alpha val="0"/>
              </a:srgbClr>
            </a:solidFill>
            <a:prstDash val="solid"/>
          </a:ln>
        </p:spPr>
      </p:sp>
      <p:sp>
        <p:nvSpPr>
          <p:cNvPr id="22" name="Text 20"/>
          <p:cNvSpPr/>
          <p:nvPr/>
        </p:nvSpPr>
        <p:spPr>
          <a:xfrm>
            <a:off x="5340096" y="2670048"/>
            <a:ext cx="1865376" cy="237744"/>
          </a:xfrm>
          <a:prstGeom prst="rect">
            <a:avLst/>
          </a:prstGeom>
          <a:noFill/>
          <a:ln/>
        </p:spPr>
        <p:txBody>
          <a:bodyPr wrap="square" lIns="0" tIns="0" rIns="0" bIns="0" rtlCol="0" anchor="ctr">
            <a:normAutofit/>
          </a:bodyPr>
          <a:lstStyle/>
          <a:p>
            <a:pPr algn="ctr" indent="0" marL="0">
              <a:buNone/>
            </a:pPr>
            <a:r>
              <a:rPr lang="en-US" sz="880" b="1" dirty="0">
                <a:solidFill>
                  <a:srgbClr val="F4F0E6"/>
                </a:solidFill>
                <a:latin typeface="Inter" pitchFamily="34" charset="0"/>
                <a:ea typeface="Inter" pitchFamily="34" charset="-122"/>
                <a:cs typeface="Inter" pitchFamily="34" charset="-120"/>
              </a:rPr>
              <a:t>B+ AI BARISTA • PROTOTYPE</a:t>
            </a:r>
            <a:endParaRPr lang="en-US" sz="880" dirty="0"/>
          </a:p>
        </p:txBody>
      </p:sp>
      <p:sp>
        <p:nvSpPr>
          <p:cNvPr id="23" name="Text 21"/>
          <p:cNvSpPr/>
          <p:nvPr/>
        </p:nvSpPr>
        <p:spPr>
          <a:xfrm>
            <a:off x="5257800" y="3154680"/>
            <a:ext cx="4389120" cy="438912"/>
          </a:xfrm>
          <a:prstGeom prst="rect">
            <a:avLst/>
          </a:prstGeom>
          <a:noFill/>
          <a:ln/>
        </p:spPr>
        <p:txBody>
          <a:bodyPr wrap="square" lIns="0" tIns="0" rIns="0" bIns="0" rtlCol="0" anchor="ctr">
            <a:normAutofit/>
          </a:bodyPr>
          <a:lstStyle/>
          <a:p>
            <a:pPr algn="l" indent="0" marL="0">
              <a:buNone/>
            </a:pPr>
            <a:r>
              <a:rPr lang="en-US" sz="2200" b="1" dirty="0">
                <a:solidFill>
                  <a:srgbClr val="F4F0E6"/>
                </a:solidFill>
                <a:latin typeface="Inter" pitchFamily="34" charset="0"/>
                <a:ea typeface="Inter" pitchFamily="34" charset="-122"/>
                <a:cs typeface="Inter" pitchFamily="34" charset="-120"/>
              </a:rPr>
              <a:t>Bugün ne içmek istersin?</a:t>
            </a:r>
            <a:endParaRPr lang="en-US" sz="2200" dirty="0"/>
          </a:p>
        </p:txBody>
      </p:sp>
      <p:sp>
        <p:nvSpPr>
          <p:cNvPr id="24" name="Shape 22"/>
          <p:cNvSpPr/>
          <p:nvPr/>
        </p:nvSpPr>
        <p:spPr>
          <a:xfrm>
            <a:off x="5257800" y="3703320"/>
            <a:ext cx="1115568" cy="265176"/>
          </a:xfrm>
          <a:prstGeom prst="roundRect">
            <a:avLst>
              <a:gd name="adj" fmla="val 50000"/>
            </a:avLst>
          </a:prstGeom>
          <a:solidFill>
            <a:srgbClr val="465542"/>
          </a:solidFill>
          <a:ln w="12700">
            <a:solidFill>
              <a:srgbClr val="465542">
                <a:alpha val="0"/>
              </a:srgbClr>
            </a:solidFill>
            <a:prstDash val="solid"/>
          </a:ln>
        </p:spPr>
      </p:sp>
      <p:sp>
        <p:nvSpPr>
          <p:cNvPr id="25" name="Text 23"/>
          <p:cNvSpPr/>
          <p:nvPr/>
        </p:nvSpPr>
        <p:spPr>
          <a:xfrm>
            <a:off x="5340096" y="3721608"/>
            <a:ext cx="950976" cy="228600"/>
          </a:xfrm>
          <a:prstGeom prst="rect">
            <a:avLst/>
          </a:prstGeom>
          <a:noFill/>
          <a:ln/>
        </p:spPr>
        <p:txBody>
          <a:bodyPr wrap="square" lIns="0" tIns="0" rIns="0" bIns="0" rtlCol="0" anchor="ctr">
            <a:normAutofit/>
          </a:bodyPr>
          <a:lstStyle/>
          <a:p>
            <a:pPr algn="ctr" indent="0" marL="0">
              <a:buNone/>
            </a:pPr>
            <a:r>
              <a:rPr lang="en-US" sz="880" b="1" dirty="0">
                <a:solidFill>
                  <a:srgbClr val="F4F0E6"/>
                </a:solidFill>
                <a:latin typeface="Inter" pitchFamily="34" charset="0"/>
                <a:ea typeface="Inter" pitchFamily="34" charset="-122"/>
                <a:cs typeface="Inter" pitchFamily="34" charset="-120"/>
              </a:rPr>
              <a:t>Kahve</a:t>
            </a:r>
            <a:endParaRPr lang="en-US" sz="880" dirty="0"/>
          </a:p>
        </p:txBody>
      </p:sp>
      <p:sp>
        <p:nvSpPr>
          <p:cNvPr id="26" name="Shape 24"/>
          <p:cNvSpPr/>
          <p:nvPr/>
        </p:nvSpPr>
        <p:spPr>
          <a:xfrm>
            <a:off x="6583680" y="3703320"/>
            <a:ext cx="1115568" cy="265176"/>
          </a:xfrm>
          <a:prstGeom prst="roundRect">
            <a:avLst>
              <a:gd name="adj" fmla="val 50000"/>
            </a:avLst>
          </a:prstGeom>
          <a:solidFill>
            <a:srgbClr val="465542"/>
          </a:solidFill>
          <a:ln w="12700">
            <a:solidFill>
              <a:srgbClr val="465542">
                <a:alpha val="0"/>
              </a:srgbClr>
            </a:solidFill>
            <a:prstDash val="solid"/>
          </a:ln>
        </p:spPr>
      </p:sp>
      <p:sp>
        <p:nvSpPr>
          <p:cNvPr id="27" name="Text 25"/>
          <p:cNvSpPr/>
          <p:nvPr/>
        </p:nvSpPr>
        <p:spPr>
          <a:xfrm>
            <a:off x="6665976" y="3721608"/>
            <a:ext cx="950976" cy="228600"/>
          </a:xfrm>
          <a:prstGeom prst="rect">
            <a:avLst/>
          </a:prstGeom>
          <a:noFill/>
          <a:ln/>
        </p:spPr>
        <p:txBody>
          <a:bodyPr wrap="square" lIns="0" tIns="0" rIns="0" bIns="0" rtlCol="0" anchor="ctr">
            <a:normAutofit/>
          </a:bodyPr>
          <a:lstStyle/>
          <a:p>
            <a:pPr algn="ctr" indent="0" marL="0">
              <a:buNone/>
            </a:pPr>
            <a:r>
              <a:rPr lang="en-US" sz="880" b="1" dirty="0">
                <a:solidFill>
                  <a:srgbClr val="F4F0E6"/>
                </a:solidFill>
                <a:latin typeface="Inter" pitchFamily="34" charset="0"/>
                <a:ea typeface="Inter" pitchFamily="34" charset="-122"/>
                <a:cs typeface="Inter" pitchFamily="34" charset="-120"/>
              </a:rPr>
              <a:t>Matcha</a:t>
            </a:r>
            <a:endParaRPr lang="en-US" sz="880" dirty="0"/>
          </a:p>
        </p:txBody>
      </p:sp>
      <p:sp>
        <p:nvSpPr>
          <p:cNvPr id="28" name="Shape 26"/>
          <p:cNvSpPr/>
          <p:nvPr/>
        </p:nvSpPr>
        <p:spPr>
          <a:xfrm>
            <a:off x="7909560" y="3703320"/>
            <a:ext cx="1115568" cy="265176"/>
          </a:xfrm>
          <a:prstGeom prst="roundRect">
            <a:avLst>
              <a:gd name="adj" fmla="val 50000"/>
            </a:avLst>
          </a:prstGeom>
          <a:solidFill>
            <a:srgbClr val="465542"/>
          </a:solidFill>
          <a:ln w="12700">
            <a:solidFill>
              <a:srgbClr val="465542">
                <a:alpha val="0"/>
              </a:srgbClr>
            </a:solidFill>
            <a:prstDash val="solid"/>
          </a:ln>
        </p:spPr>
      </p:sp>
      <p:sp>
        <p:nvSpPr>
          <p:cNvPr id="29" name="Text 27"/>
          <p:cNvSpPr/>
          <p:nvPr/>
        </p:nvSpPr>
        <p:spPr>
          <a:xfrm>
            <a:off x="7991856" y="3721608"/>
            <a:ext cx="950976" cy="228600"/>
          </a:xfrm>
          <a:prstGeom prst="rect">
            <a:avLst/>
          </a:prstGeom>
          <a:noFill/>
          <a:ln/>
        </p:spPr>
        <p:txBody>
          <a:bodyPr wrap="square" lIns="0" tIns="0" rIns="0" bIns="0" rtlCol="0" anchor="ctr">
            <a:normAutofit/>
          </a:bodyPr>
          <a:lstStyle/>
          <a:p>
            <a:pPr algn="ctr" indent="0" marL="0">
              <a:buNone/>
            </a:pPr>
            <a:r>
              <a:rPr lang="en-US" sz="880" b="1" dirty="0">
                <a:solidFill>
                  <a:srgbClr val="F4F0E6"/>
                </a:solidFill>
                <a:latin typeface="Inter" pitchFamily="34" charset="0"/>
                <a:ea typeface="Inter" pitchFamily="34" charset="-122"/>
                <a:cs typeface="Inter" pitchFamily="34" charset="-120"/>
              </a:rPr>
              <a:t>Taze / hafif</a:t>
            </a:r>
            <a:endParaRPr lang="en-US" sz="880" dirty="0"/>
          </a:p>
        </p:txBody>
      </p:sp>
      <p:sp>
        <p:nvSpPr>
          <p:cNvPr id="30" name="Shape 28"/>
          <p:cNvSpPr/>
          <p:nvPr/>
        </p:nvSpPr>
        <p:spPr>
          <a:xfrm>
            <a:off x="9235440" y="3703320"/>
            <a:ext cx="1115568" cy="265176"/>
          </a:xfrm>
          <a:prstGeom prst="roundRect">
            <a:avLst>
              <a:gd name="adj" fmla="val 50000"/>
            </a:avLst>
          </a:prstGeom>
          <a:solidFill>
            <a:srgbClr val="465542"/>
          </a:solidFill>
          <a:ln w="12700">
            <a:solidFill>
              <a:srgbClr val="465542">
                <a:alpha val="0"/>
              </a:srgbClr>
            </a:solidFill>
            <a:prstDash val="solid"/>
          </a:ln>
        </p:spPr>
      </p:sp>
      <p:sp>
        <p:nvSpPr>
          <p:cNvPr id="31" name="Text 29"/>
          <p:cNvSpPr/>
          <p:nvPr/>
        </p:nvSpPr>
        <p:spPr>
          <a:xfrm>
            <a:off x="9317736" y="3721608"/>
            <a:ext cx="950976" cy="228600"/>
          </a:xfrm>
          <a:prstGeom prst="rect">
            <a:avLst/>
          </a:prstGeom>
          <a:noFill/>
          <a:ln/>
        </p:spPr>
        <p:txBody>
          <a:bodyPr wrap="square" lIns="0" tIns="0" rIns="0" bIns="0" rtlCol="0" anchor="ctr">
            <a:normAutofit/>
          </a:bodyPr>
          <a:lstStyle/>
          <a:p>
            <a:pPr algn="ctr" indent="0" marL="0">
              <a:buNone/>
            </a:pPr>
            <a:r>
              <a:rPr lang="en-US" sz="880" b="1" dirty="0">
                <a:solidFill>
                  <a:srgbClr val="F4F0E6"/>
                </a:solidFill>
                <a:latin typeface="Inter" pitchFamily="34" charset="0"/>
                <a:ea typeface="Inter" pitchFamily="34" charset="-122"/>
                <a:cs typeface="Inter" pitchFamily="34" charset="-120"/>
              </a:rPr>
              <a:t>Sıcak / rahat</a:t>
            </a:r>
            <a:endParaRPr lang="en-US" sz="880" dirty="0"/>
          </a:p>
        </p:txBody>
      </p:sp>
      <p:sp>
        <p:nvSpPr>
          <p:cNvPr id="32" name="Shape 30"/>
          <p:cNvSpPr/>
          <p:nvPr/>
        </p:nvSpPr>
        <p:spPr>
          <a:xfrm>
            <a:off x="5257800" y="4224528"/>
            <a:ext cx="5806440" cy="1325880"/>
          </a:xfrm>
          <a:prstGeom prst="roundRect">
            <a:avLst>
              <a:gd name="adj" fmla="val 15172"/>
            </a:avLst>
          </a:prstGeom>
          <a:solidFill>
            <a:srgbClr val="FAF7EF"/>
          </a:solidFill>
          <a:ln w="12700">
            <a:solidFill>
              <a:srgbClr val="FAF7EF">
                <a:alpha val="0"/>
              </a:srgbClr>
            </a:solidFill>
            <a:prstDash val="solid"/>
          </a:ln>
        </p:spPr>
      </p:sp>
      <p:sp>
        <p:nvSpPr>
          <p:cNvPr id="33" name="Shape 31"/>
          <p:cNvSpPr/>
          <p:nvPr/>
        </p:nvSpPr>
        <p:spPr>
          <a:xfrm>
            <a:off x="5468112" y="4443984"/>
            <a:ext cx="1225296" cy="246888"/>
          </a:xfrm>
          <a:prstGeom prst="roundRect">
            <a:avLst>
              <a:gd name="adj" fmla="val 50000"/>
            </a:avLst>
          </a:prstGeom>
          <a:solidFill>
            <a:srgbClr val="E9EDE2"/>
          </a:solidFill>
          <a:ln w="12700">
            <a:solidFill>
              <a:srgbClr val="E9EDE2">
                <a:alpha val="0"/>
              </a:srgbClr>
            </a:solidFill>
            <a:prstDash val="solid"/>
          </a:ln>
        </p:spPr>
      </p:sp>
      <p:sp>
        <p:nvSpPr>
          <p:cNvPr id="34" name="Text 32"/>
          <p:cNvSpPr/>
          <p:nvPr/>
        </p:nvSpPr>
        <p:spPr>
          <a:xfrm>
            <a:off x="5550408" y="4462272"/>
            <a:ext cx="1060704" cy="210312"/>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DEMO SCORE %94</a:t>
            </a:r>
            <a:endParaRPr lang="en-US" sz="880" dirty="0"/>
          </a:p>
        </p:txBody>
      </p:sp>
      <p:sp>
        <p:nvSpPr>
          <p:cNvPr id="35" name="Text 33"/>
          <p:cNvSpPr/>
          <p:nvPr/>
        </p:nvSpPr>
        <p:spPr>
          <a:xfrm>
            <a:off x="5468112" y="4828032"/>
            <a:ext cx="2377440" cy="310896"/>
          </a:xfrm>
          <a:prstGeom prst="rect">
            <a:avLst/>
          </a:prstGeom>
          <a:noFill/>
          <a:ln/>
        </p:spPr>
        <p:txBody>
          <a:bodyPr wrap="square" lIns="0" tIns="0" rIns="0" bIns="0" rtlCol="0" anchor="ctr">
            <a:normAutofit/>
          </a:bodyPr>
          <a:lstStyle/>
          <a:p>
            <a:pPr algn="l" indent="0" marL="0">
              <a:buNone/>
            </a:pPr>
            <a:r>
              <a:rPr lang="en-US" sz="1300" b="1" dirty="0">
                <a:solidFill>
                  <a:srgbClr val="34422D"/>
                </a:solidFill>
                <a:latin typeface="Inter" pitchFamily="34" charset="0"/>
                <a:ea typeface="Inter" pitchFamily="34" charset="-122"/>
                <a:cs typeface="Inter" pitchFamily="34" charset="-120"/>
              </a:rPr>
              <a:t>Lion's Mane Cold Brew</a:t>
            </a:r>
            <a:endParaRPr lang="en-US" sz="1300" dirty="0"/>
          </a:p>
        </p:txBody>
      </p:sp>
      <p:sp>
        <p:nvSpPr>
          <p:cNvPr id="36" name="Text 34"/>
          <p:cNvSpPr/>
          <p:nvPr/>
        </p:nvSpPr>
        <p:spPr>
          <a:xfrm>
            <a:off x="8074152" y="4846320"/>
            <a:ext cx="2377440" cy="256032"/>
          </a:xfrm>
          <a:prstGeom prst="rect">
            <a:avLst/>
          </a:prstGeom>
          <a:noFill/>
          <a:ln/>
        </p:spPr>
        <p:txBody>
          <a:bodyPr wrap="square" lIns="0" tIns="0" rIns="0" bIns="0" rtlCol="0" anchor="ctr">
            <a:normAutofit/>
          </a:bodyPr>
          <a:lstStyle/>
          <a:p>
            <a:pPr algn="r" indent="0" marL="0">
              <a:buNone/>
            </a:pPr>
            <a:r>
              <a:rPr lang="en-US" sz="920" dirty="0">
                <a:solidFill>
                  <a:srgbClr val="6B675F"/>
                </a:solidFill>
                <a:latin typeface="Inter" pitchFamily="34" charset="0"/>
                <a:ea typeface="Inter" pitchFamily="34" charset="-122"/>
                <a:cs typeface="Inter" pitchFamily="34" charset="-120"/>
              </a:rPr>
              <a:t>Demo katalog eşleşmesi</a:t>
            </a:r>
            <a:endParaRPr lang="en-US" sz="920" dirty="0"/>
          </a:p>
        </p:txBody>
      </p:sp>
      <p:sp>
        <p:nvSpPr>
          <p:cNvPr id="37" name="Shape 35"/>
          <p:cNvSpPr/>
          <p:nvPr/>
        </p:nvSpPr>
        <p:spPr>
          <a:xfrm>
            <a:off x="9079992" y="5678424"/>
            <a:ext cx="1627632" cy="246888"/>
          </a:xfrm>
          <a:prstGeom prst="roundRect">
            <a:avLst>
              <a:gd name="adj" fmla="val 50000"/>
            </a:avLst>
          </a:prstGeom>
          <a:solidFill>
            <a:srgbClr val="56634E"/>
          </a:solidFill>
          <a:ln w="12700">
            <a:solidFill>
              <a:srgbClr val="56634E">
                <a:alpha val="0"/>
              </a:srgbClr>
            </a:solidFill>
            <a:prstDash val="solid"/>
          </a:ln>
        </p:spPr>
      </p:sp>
      <p:sp>
        <p:nvSpPr>
          <p:cNvPr id="38" name="Text 36"/>
          <p:cNvSpPr/>
          <p:nvPr/>
        </p:nvSpPr>
        <p:spPr>
          <a:xfrm>
            <a:off x="9162288" y="5696712"/>
            <a:ext cx="1463040" cy="210312"/>
          </a:xfrm>
          <a:prstGeom prst="rect">
            <a:avLst/>
          </a:prstGeom>
          <a:noFill/>
          <a:ln/>
        </p:spPr>
        <p:txBody>
          <a:bodyPr wrap="square" lIns="0" tIns="0" rIns="0" bIns="0" rtlCol="0" anchor="ctr">
            <a:normAutofit/>
          </a:bodyPr>
          <a:lstStyle/>
          <a:p>
            <a:pPr algn="ctr" indent="0" marL="0">
              <a:buNone/>
            </a:pPr>
            <a:r>
              <a:rPr lang="en-US" sz="880" b="1" dirty="0">
                <a:solidFill>
                  <a:srgbClr val="F4F0E6"/>
                </a:solidFill>
                <a:latin typeface="Inter" pitchFamily="34" charset="0"/>
                <a:ea typeface="Inter" pitchFamily="34" charset="-122"/>
                <a:cs typeface="Inter" pitchFamily="34" charset="-120"/>
              </a:rPr>
              <a:t>PROTOTYPE SIMULATION</a:t>
            </a:r>
            <a:endParaRPr lang="en-US" sz="88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8D8A80"/>
                </a:solidFill>
                <a:latin typeface="Inter"/>
                <a:ea typeface="Inter"/>
                <a:cs typeface="Inter"/>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621792"/>
            <a:ext cx="4480560" cy="237744"/>
          </a:xfrm>
          <a:prstGeom prst="rect">
            <a:avLst/>
          </a:prstGeom>
          <a:noFill/>
          <a:ln/>
        </p:spPr>
        <p:txBody>
          <a:bodyPr wrap="square" lIns="0" tIns="0" rIns="0" bIns="0" rtlCol="0" anchor="ctr">
            <a:normAutofit/>
          </a:bodyPr>
          <a:lstStyle/>
          <a:p>
            <a:pPr algn="l" indent="0" marL="0">
              <a:buNone/>
            </a:pPr>
            <a:r>
              <a:rPr lang="en-US" sz="900" b="1" spc="125" kern="0" dirty="0">
                <a:solidFill>
                  <a:srgbClr val="68734B"/>
                </a:solidFill>
                <a:latin typeface="Inter" pitchFamily="34" charset="0"/>
                <a:ea typeface="Inter" pitchFamily="34" charset="-122"/>
                <a:cs typeface="Inter" pitchFamily="34" charset="-120"/>
              </a:rPr>
              <a:t>06 / ŞEFFAFLIK TABLOSU</a:t>
            </a:r>
            <a:endParaRPr lang="en-US" sz="900" dirty="0"/>
          </a:p>
        </p:txBody>
      </p:sp>
      <p:sp>
        <p:nvSpPr>
          <p:cNvPr id="3" name="Text 1"/>
          <p:cNvSpPr/>
          <p:nvPr/>
        </p:nvSpPr>
        <p:spPr>
          <a:xfrm>
            <a:off x="594360" y="941832"/>
            <a:ext cx="10789920" cy="658368"/>
          </a:xfrm>
          <a:prstGeom prst="rect">
            <a:avLst/>
          </a:prstGeom>
          <a:noFill/>
          <a:ln/>
        </p:spPr>
        <p:txBody>
          <a:bodyPr wrap="square" lIns="0" tIns="0" rIns="0" bIns="0" rtlCol="0" anchor="ctr">
            <a:normAutofit/>
          </a:bodyPr>
          <a:lstStyle/>
          <a:p>
            <a:pPr algn="l" indent="0" marL="0">
              <a:buNone/>
            </a:pPr>
            <a:r>
              <a:rPr lang="en-US" sz="2800" b="1" dirty="0">
                <a:solidFill>
                  <a:srgbClr val="34422D"/>
                </a:solidFill>
                <a:latin typeface="Inter" pitchFamily="34" charset="0"/>
                <a:ea typeface="Inter" pitchFamily="34" charset="-122"/>
                <a:cs typeface="Inter" pitchFamily="34" charset="-120"/>
              </a:rPr>
              <a:t>Ne geliştirildi, ne bilinçli olarak simüle bırakıldı?</a:t>
            </a:r>
            <a:endParaRPr lang="en-US" sz="2800" dirty="0"/>
          </a:p>
        </p:txBody>
      </p:sp>
      <p:sp>
        <p:nvSpPr>
          <p:cNvPr id="4" name="Text 2"/>
          <p:cNvSpPr/>
          <p:nvPr/>
        </p:nvSpPr>
        <p:spPr>
          <a:xfrm>
            <a:off x="594360" y="1664208"/>
            <a:ext cx="10607040" cy="457200"/>
          </a:xfrm>
          <a:prstGeom prst="rect">
            <a:avLst/>
          </a:prstGeom>
          <a:noFill/>
          <a:ln/>
        </p:spPr>
        <p:txBody>
          <a:bodyPr wrap="square" lIns="0" tIns="0" rIns="0" bIns="0" rtlCol="0" anchor="ctr">
            <a:normAutofit/>
          </a:bodyPr>
          <a:lstStyle/>
          <a:p>
            <a:pPr algn="l" indent="0" marL="0">
              <a:buNone/>
            </a:pPr>
            <a:r>
              <a:rPr lang="en-US" sz="1250" dirty="0">
                <a:solidFill>
                  <a:srgbClr val="6B675F"/>
                </a:solidFill>
                <a:latin typeface="Inter" pitchFamily="34" charset="0"/>
                <a:ea typeface="Inter" pitchFamily="34" charset="-122"/>
                <a:cs typeface="Inter" pitchFamily="34" charset="-120"/>
              </a:rPr>
              <a:t>Case’in güçlü yanı: çalışan parçalar ile geleceğe bırakılan katmanlar net biçimde ayrılıyor.</a:t>
            </a:r>
            <a:endParaRPr lang="en-US" sz="1250" dirty="0"/>
          </a:p>
        </p:txBody>
      </p:sp>
      <p:sp>
        <p:nvSpPr>
          <p:cNvPr id="5" name="Shape 3"/>
          <p:cNvSpPr/>
          <p:nvPr/>
        </p:nvSpPr>
        <p:spPr>
          <a:xfrm>
            <a:off x="594360" y="2331720"/>
            <a:ext cx="1828800" cy="530352"/>
          </a:xfrm>
          <a:prstGeom prst="roundRect">
            <a:avLst>
              <a:gd name="adj" fmla="val 13793"/>
            </a:avLst>
          </a:prstGeom>
          <a:solidFill>
            <a:srgbClr val="34422D"/>
          </a:solidFill>
          <a:ln w="12700">
            <a:solidFill>
              <a:srgbClr val="34422D">
                <a:alpha val="0"/>
              </a:srgbClr>
            </a:solidFill>
            <a:prstDash val="solid"/>
          </a:ln>
        </p:spPr>
      </p:sp>
      <p:sp>
        <p:nvSpPr>
          <p:cNvPr id="6" name="Text 4"/>
          <p:cNvSpPr/>
          <p:nvPr/>
        </p:nvSpPr>
        <p:spPr>
          <a:xfrm>
            <a:off x="722376" y="2441448"/>
            <a:ext cx="1572768" cy="256032"/>
          </a:xfrm>
          <a:prstGeom prst="rect">
            <a:avLst/>
          </a:prstGeom>
          <a:noFill/>
          <a:ln/>
        </p:spPr>
        <p:txBody>
          <a:bodyPr wrap="square" lIns="0" tIns="0" rIns="0" bIns="0" rtlCol="0" anchor="ctr">
            <a:normAutofit/>
          </a:bodyPr>
          <a:lstStyle/>
          <a:p>
            <a:pPr algn="l" indent="0" marL="0">
              <a:buNone/>
            </a:pPr>
            <a:r>
              <a:rPr lang="en-US" sz="1000" b="1" dirty="0">
                <a:solidFill>
                  <a:srgbClr val="F4F0E6"/>
                </a:solidFill>
                <a:latin typeface="Inter" pitchFamily="34" charset="0"/>
                <a:ea typeface="Inter" pitchFamily="34" charset="-122"/>
                <a:cs typeface="Inter" pitchFamily="34" charset="-120"/>
              </a:rPr>
              <a:t>Bölüm</a:t>
            </a:r>
            <a:endParaRPr lang="en-US" sz="1000" dirty="0"/>
          </a:p>
        </p:txBody>
      </p:sp>
      <p:sp>
        <p:nvSpPr>
          <p:cNvPr id="7" name="Shape 5"/>
          <p:cNvSpPr/>
          <p:nvPr/>
        </p:nvSpPr>
        <p:spPr>
          <a:xfrm>
            <a:off x="2423160" y="2331720"/>
            <a:ext cx="4663440" cy="530352"/>
          </a:xfrm>
          <a:prstGeom prst="roundRect">
            <a:avLst>
              <a:gd name="adj" fmla="val 13793"/>
            </a:avLst>
          </a:prstGeom>
          <a:solidFill>
            <a:srgbClr val="68734B"/>
          </a:solidFill>
          <a:ln w="12700">
            <a:solidFill>
              <a:srgbClr val="68734B">
                <a:alpha val="0"/>
              </a:srgbClr>
            </a:solidFill>
            <a:prstDash val="solid"/>
          </a:ln>
        </p:spPr>
      </p:sp>
      <p:sp>
        <p:nvSpPr>
          <p:cNvPr id="8" name="Text 6"/>
          <p:cNvSpPr/>
          <p:nvPr/>
        </p:nvSpPr>
        <p:spPr>
          <a:xfrm>
            <a:off x="2551176" y="2441448"/>
            <a:ext cx="4407408" cy="256032"/>
          </a:xfrm>
          <a:prstGeom prst="rect">
            <a:avLst/>
          </a:prstGeom>
          <a:noFill/>
          <a:ln/>
        </p:spPr>
        <p:txBody>
          <a:bodyPr wrap="square" lIns="0" tIns="0" rIns="0" bIns="0" rtlCol="0" anchor="ctr">
            <a:normAutofit/>
          </a:bodyPr>
          <a:lstStyle/>
          <a:p>
            <a:pPr algn="l" indent="0" marL="0">
              <a:buNone/>
            </a:pPr>
            <a:r>
              <a:rPr lang="en-US" sz="1000" b="1" dirty="0">
                <a:solidFill>
                  <a:srgbClr val="F4F0E6"/>
                </a:solidFill>
                <a:latin typeface="Inter" pitchFamily="34" charset="0"/>
                <a:ea typeface="Inter" pitchFamily="34" charset="-122"/>
                <a:cs typeface="Inter" pitchFamily="34" charset="-120"/>
              </a:rPr>
              <a:t>Gerçekten geliştirilen / çalışan</a:t>
            </a:r>
            <a:endParaRPr lang="en-US" sz="1000" dirty="0"/>
          </a:p>
        </p:txBody>
      </p:sp>
      <p:sp>
        <p:nvSpPr>
          <p:cNvPr id="9" name="Shape 7"/>
          <p:cNvSpPr/>
          <p:nvPr/>
        </p:nvSpPr>
        <p:spPr>
          <a:xfrm>
            <a:off x="7086600" y="2331720"/>
            <a:ext cx="4572000" cy="530352"/>
          </a:xfrm>
          <a:prstGeom prst="roundRect">
            <a:avLst>
              <a:gd name="adj" fmla="val 13793"/>
            </a:avLst>
          </a:prstGeom>
          <a:solidFill>
            <a:srgbClr val="68734B"/>
          </a:solidFill>
          <a:ln w="12700">
            <a:solidFill>
              <a:srgbClr val="68734B">
                <a:alpha val="0"/>
              </a:srgbClr>
            </a:solidFill>
            <a:prstDash val="solid"/>
          </a:ln>
        </p:spPr>
      </p:sp>
      <p:sp>
        <p:nvSpPr>
          <p:cNvPr id="10" name="Text 8"/>
          <p:cNvSpPr/>
          <p:nvPr/>
        </p:nvSpPr>
        <p:spPr>
          <a:xfrm>
            <a:off x="7214616" y="2441448"/>
            <a:ext cx="4315968" cy="256032"/>
          </a:xfrm>
          <a:prstGeom prst="rect">
            <a:avLst/>
          </a:prstGeom>
          <a:noFill/>
          <a:ln/>
        </p:spPr>
        <p:txBody>
          <a:bodyPr wrap="square" lIns="0" tIns="0" rIns="0" bIns="0" rtlCol="0" anchor="ctr">
            <a:normAutofit/>
          </a:bodyPr>
          <a:lstStyle/>
          <a:p>
            <a:pPr algn="l" indent="0" marL="0">
              <a:buNone/>
            </a:pPr>
            <a:r>
              <a:rPr lang="en-US" sz="1000" b="1" dirty="0">
                <a:solidFill>
                  <a:srgbClr val="F4F0E6"/>
                </a:solidFill>
                <a:latin typeface="Inter" pitchFamily="34" charset="0"/>
                <a:ea typeface="Inter" pitchFamily="34" charset="-122"/>
                <a:cs typeface="Inter" pitchFamily="34" charset="-120"/>
              </a:rPr>
              <a:t>Gelecek aşamaya bırakılan / simüle</a:t>
            </a:r>
            <a:endParaRPr lang="en-US" sz="1000" dirty="0"/>
          </a:p>
        </p:txBody>
      </p:sp>
      <p:sp>
        <p:nvSpPr>
          <p:cNvPr id="11" name="Shape 9"/>
          <p:cNvSpPr/>
          <p:nvPr/>
        </p:nvSpPr>
        <p:spPr>
          <a:xfrm>
            <a:off x="594360" y="2862072"/>
            <a:ext cx="1828800" cy="731520"/>
          </a:xfrm>
          <a:prstGeom prst="roundRect">
            <a:avLst>
              <a:gd name="adj" fmla="val 5000"/>
            </a:avLst>
          </a:prstGeom>
          <a:solidFill>
            <a:srgbClr val="FBF9F3"/>
          </a:solidFill>
          <a:ln w="12700">
            <a:solidFill>
              <a:srgbClr val="E3DEC3"/>
            </a:solidFill>
            <a:prstDash val="solid"/>
          </a:ln>
        </p:spPr>
      </p:sp>
      <p:sp>
        <p:nvSpPr>
          <p:cNvPr id="12" name="Text 10"/>
          <p:cNvSpPr/>
          <p:nvPr/>
        </p:nvSpPr>
        <p:spPr>
          <a:xfrm>
            <a:off x="722376" y="2971800"/>
            <a:ext cx="1572768" cy="512064"/>
          </a:xfrm>
          <a:prstGeom prst="rect">
            <a:avLst/>
          </a:prstGeom>
          <a:noFill/>
          <a:ln/>
        </p:spPr>
        <p:txBody>
          <a:bodyPr wrap="square" lIns="0" tIns="0" rIns="0" bIns="0" rtlCol="0" anchor="ctr">
            <a:normAutofit/>
          </a:bodyPr>
          <a:lstStyle/>
          <a:p>
            <a:pPr algn="l" indent="0" marL="0">
              <a:buNone/>
            </a:pPr>
            <a:r>
              <a:rPr lang="en-US" sz="1050" b="1" dirty="0">
                <a:solidFill>
                  <a:srgbClr val="34422D"/>
                </a:solidFill>
                <a:latin typeface="Inter" pitchFamily="34" charset="0"/>
                <a:ea typeface="Inter" pitchFamily="34" charset="-122"/>
                <a:cs typeface="Inter" pitchFamily="34" charset="-120"/>
              </a:rPr>
              <a:t>Web Sitesi</a:t>
            </a:r>
            <a:endParaRPr lang="en-US" sz="1050" dirty="0"/>
          </a:p>
        </p:txBody>
      </p:sp>
      <p:sp>
        <p:nvSpPr>
          <p:cNvPr id="13" name="Shape 11"/>
          <p:cNvSpPr/>
          <p:nvPr/>
        </p:nvSpPr>
        <p:spPr>
          <a:xfrm>
            <a:off x="2423160" y="2862072"/>
            <a:ext cx="4663440" cy="731520"/>
          </a:xfrm>
          <a:prstGeom prst="roundRect">
            <a:avLst>
              <a:gd name="adj" fmla="val 5000"/>
            </a:avLst>
          </a:prstGeom>
          <a:solidFill>
            <a:srgbClr val="FBF9F3"/>
          </a:solidFill>
          <a:ln w="12700">
            <a:solidFill>
              <a:srgbClr val="E3DEC3"/>
            </a:solidFill>
            <a:prstDash val="solid"/>
          </a:ln>
        </p:spPr>
      </p:sp>
      <p:sp>
        <p:nvSpPr>
          <p:cNvPr id="14" name="Text 12"/>
          <p:cNvSpPr/>
          <p:nvPr/>
        </p:nvSpPr>
        <p:spPr>
          <a:xfrm>
            <a:off x="2551176" y="2971800"/>
            <a:ext cx="4407408" cy="512064"/>
          </a:xfrm>
          <a:prstGeom prst="rect">
            <a:avLst/>
          </a:prstGeom>
          <a:noFill/>
          <a:ln/>
        </p:spPr>
        <p:txBody>
          <a:bodyPr wrap="square" lIns="0" tIns="0" rIns="0" bIns="0" rtlCol="0" anchor="ctr">
            <a:normAutofit/>
          </a:bodyPr>
          <a:lstStyle/>
          <a:p>
            <a:pPr algn="l" indent="0" marL="0">
              <a:buNone/>
            </a:pPr>
            <a:r>
              <a:rPr lang="en-US" sz="960" dirty="0">
                <a:solidFill>
                  <a:srgbClr val="6B675F"/>
                </a:solidFill>
                <a:latin typeface="Inter" pitchFamily="34" charset="0"/>
                <a:ea typeface="Inter" pitchFamily="34" charset="-122"/>
                <a:cs typeface="Inter" pitchFamily="34" charset="-120"/>
              </a:rPr>
              <a:t>Modern web sitesi, kategori filtreleri, demo sepet/ön sipariş akışı.</a:t>
            </a:r>
            <a:endParaRPr lang="en-US" sz="960" dirty="0"/>
          </a:p>
        </p:txBody>
      </p:sp>
      <p:sp>
        <p:nvSpPr>
          <p:cNvPr id="15" name="Shape 13"/>
          <p:cNvSpPr/>
          <p:nvPr/>
        </p:nvSpPr>
        <p:spPr>
          <a:xfrm>
            <a:off x="7086600" y="2862072"/>
            <a:ext cx="4572000" cy="731520"/>
          </a:xfrm>
          <a:prstGeom prst="roundRect">
            <a:avLst>
              <a:gd name="adj" fmla="val 5000"/>
            </a:avLst>
          </a:prstGeom>
          <a:solidFill>
            <a:srgbClr val="FBF9F3"/>
          </a:solidFill>
          <a:ln w="12700">
            <a:solidFill>
              <a:srgbClr val="E3DEC3"/>
            </a:solidFill>
            <a:prstDash val="solid"/>
          </a:ln>
        </p:spPr>
      </p:sp>
      <p:sp>
        <p:nvSpPr>
          <p:cNvPr id="16" name="Text 14"/>
          <p:cNvSpPr/>
          <p:nvPr/>
        </p:nvSpPr>
        <p:spPr>
          <a:xfrm>
            <a:off x="7214616" y="2971800"/>
            <a:ext cx="4315968" cy="512064"/>
          </a:xfrm>
          <a:prstGeom prst="rect">
            <a:avLst/>
          </a:prstGeom>
          <a:noFill/>
          <a:ln/>
        </p:spPr>
        <p:txBody>
          <a:bodyPr wrap="square" lIns="0" tIns="0" rIns="0" bIns="0" rtlCol="0" anchor="ctr">
            <a:normAutofit/>
          </a:bodyPr>
          <a:lstStyle/>
          <a:p>
            <a:pPr algn="l" indent="0" marL="0">
              <a:buNone/>
            </a:pPr>
            <a:r>
              <a:rPr lang="en-US" sz="960" dirty="0">
                <a:solidFill>
                  <a:srgbClr val="6B675F"/>
                </a:solidFill>
                <a:latin typeface="Inter" pitchFamily="34" charset="0"/>
                <a:ea typeface="Inter" pitchFamily="34" charset="-122"/>
                <a:cs typeface="Inter" pitchFamily="34" charset="-120"/>
              </a:rPr>
              <a:t>Gerçek sanal POS ve gerçek ödeme alma.</a:t>
            </a:r>
            <a:endParaRPr lang="en-US" sz="960" dirty="0"/>
          </a:p>
        </p:txBody>
      </p:sp>
      <p:sp>
        <p:nvSpPr>
          <p:cNvPr id="17" name="Shape 15"/>
          <p:cNvSpPr/>
          <p:nvPr/>
        </p:nvSpPr>
        <p:spPr>
          <a:xfrm>
            <a:off x="594360" y="3648456"/>
            <a:ext cx="1828800" cy="731520"/>
          </a:xfrm>
          <a:prstGeom prst="roundRect">
            <a:avLst>
              <a:gd name="adj" fmla="val 5000"/>
            </a:avLst>
          </a:prstGeom>
          <a:solidFill>
            <a:srgbClr val="F4F0E6"/>
          </a:solidFill>
          <a:ln w="12700">
            <a:solidFill>
              <a:srgbClr val="E3DEC3"/>
            </a:solidFill>
            <a:prstDash val="solid"/>
          </a:ln>
        </p:spPr>
      </p:sp>
      <p:sp>
        <p:nvSpPr>
          <p:cNvPr id="18" name="Text 16"/>
          <p:cNvSpPr/>
          <p:nvPr/>
        </p:nvSpPr>
        <p:spPr>
          <a:xfrm>
            <a:off x="722376" y="3758184"/>
            <a:ext cx="1572768" cy="512064"/>
          </a:xfrm>
          <a:prstGeom prst="rect">
            <a:avLst/>
          </a:prstGeom>
          <a:noFill/>
          <a:ln/>
        </p:spPr>
        <p:txBody>
          <a:bodyPr wrap="square" lIns="0" tIns="0" rIns="0" bIns="0" rtlCol="0" anchor="ctr">
            <a:normAutofit/>
          </a:bodyPr>
          <a:lstStyle/>
          <a:p>
            <a:pPr algn="l" indent="0" marL="0">
              <a:buNone/>
            </a:pPr>
            <a:r>
              <a:rPr lang="en-US" sz="1050" b="1" dirty="0">
                <a:solidFill>
                  <a:srgbClr val="34422D"/>
                </a:solidFill>
                <a:latin typeface="Inter" pitchFamily="34" charset="0"/>
                <a:ea typeface="Inter" pitchFamily="34" charset="-122"/>
                <a:cs typeface="Inter" pitchFamily="34" charset="-120"/>
              </a:rPr>
              <a:t>Sosyal Medya</a:t>
            </a:r>
            <a:endParaRPr lang="en-US" sz="1050" dirty="0"/>
          </a:p>
        </p:txBody>
      </p:sp>
      <p:sp>
        <p:nvSpPr>
          <p:cNvPr id="19" name="Shape 17"/>
          <p:cNvSpPr/>
          <p:nvPr/>
        </p:nvSpPr>
        <p:spPr>
          <a:xfrm>
            <a:off x="2423160" y="3648456"/>
            <a:ext cx="4663440" cy="731520"/>
          </a:xfrm>
          <a:prstGeom prst="roundRect">
            <a:avLst>
              <a:gd name="adj" fmla="val 5000"/>
            </a:avLst>
          </a:prstGeom>
          <a:solidFill>
            <a:srgbClr val="F4F0E6"/>
          </a:solidFill>
          <a:ln w="12700">
            <a:solidFill>
              <a:srgbClr val="E3DEC3"/>
            </a:solidFill>
            <a:prstDash val="solid"/>
          </a:ln>
        </p:spPr>
      </p:sp>
      <p:sp>
        <p:nvSpPr>
          <p:cNvPr id="20" name="Text 18"/>
          <p:cNvSpPr/>
          <p:nvPr/>
        </p:nvSpPr>
        <p:spPr>
          <a:xfrm>
            <a:off x="2551176" y="3758184"/>
            <a:ext cx="4407408" cy="512064"/>
          </a:xfrm>
          <a:prstGeom prst="rect">
            <a:avLst/>
          </a:prstGeom>
          <a:noFill/>
          <a:ln/>
        </p:spPr>
        <p:txBody>
          <a:bodyPr wrap="square" lIns="0" tIns="0" rIns="0" bIns="0" rtlCol="0" anchor="ctr">
            <a:normAutofit/>
          </a:bodyPr>
          <a:lstStyle/>
          <a:p>
            <a:pPr algn="l" indent="0" marL="0">
              <a:buNone/>
            </a:pPr>
            <a:r>
              <a:rPr lang="en-US" sz="960" dirty="0">
                <a:solidFill>
                  <a:srgbClr val="6B675F"/>
                </a:solidFill>
                <a:latin typeface="Inter" pitchFamily="34" charset="0"/>
                <a:ea typeface="Inter" pitchFamily="34" charset="-122"/>
                <a:cs typeface="Inter" pitchFamily="34" charset="-120"/>
              </a:rPr>
              <a:t>6 final post, 3 Story, 28 sn Reels prototipi.</a:t>
            </a:r>
            <a:endParaRPr lang="en-US" sz="960" dirty="0"/>
          </a:p>
        </p:txBody>
      </p:sp>
      <p:sp>
        <p:nvSpPr>
          <p:cNvPr id="21" name="Shape 19"/>
          <p:cNvSpPr/>
          <p:nvPr/>
        </p:nvSpPr>
        <p:spPr>
          <a:xfrm>
            <a:off x="7086600" y="3648456"/>
            <a:ext cx="4572000" cy="731520"/>
          </a:xfrm>
          <a:prstGeom prst="roundRect">
            <a:avLst>
              <a:gd name="adj" fmla="val 5000"/>
            </a:avLst>
          </a:prstGeom>
          <a:solidFill>
            <a:srgbClr val="F4F0E6"/>
          </a:solidFill>
          <a:ln w="12700">
            <a:solidFill>
              <a:srgbClr val="E3DEC3"/>
            </a:solidFill>
            <a:prstDash val="solid"/>
          </a:ln>
        </p:spPr>
      </p:sp>
      <p:sp>
        <p:nvSpPr>
          <p:cNvPr id="22" name="Text 20"/>
          <p:cNvSpPr/>
          <p:nvPr/>
        </p:nvSpPr>
        <p:spPr>
          <a:xfrm>
            <a:off x="7214616" y="3758184"/>
            <a:ext cx="4315968" cy="512064"/>
          </a:xfrm>
          <a:prstGeom prst="rect">
            <a:avLst/>
          </a:prstGeom>
          <a:noFill/>
          <a:ln/>
        </p:spPr>
        <p:txBody>
          <a:bodyPr wrap="square" lIns="0" tIns="0" rIns="0" bIns="0" rtlCol="0" anchor="ctr">
            <a:normAutofit/>
          </a:bodyPr>
          <a:lstStyle/>
          <a:p>
            <a:pPr algn="l" indent="0" marL="0">
              <a:buNone/>
            </a:pPr>
            <a:r>
              <a:rPr lang="en-US" sz="960" dirty="0">
                <a:solidFill>
                  <a:srgbClr val="6B675F"/>
                </a:solidFill>
                <a:latin typeface="Inter" pitchFamily="34" charset="0"/>
                <a:ea typeface="Inter" pitchFamily="34" charset="-122"/>
                <a:cs typeface="Inter" pitchFamily="34" charset="-120"/>
              </a:rPr>
              <a:t>Gerçek Instagram hesabında canlı yayınlama.</a:t>
            </a:r>
            <a:endParaRPr lang="en-US" sz="960" dirty="0"/>
          </a:p>
        </p:txBody>
      </p:sp>
      <p:sp>
        <p:nvSpPr>
          <p:cNvPr id="23" name="Shape 21"/>
          <p:cNvSpPr/>
          <p:nvPr/>
        </p:nvSpPr>
        <p:spPr>
          <a:xfrm>
            <a:off x="594360" y="4434840"/>
            <a:ext cx="1828800" cy="731520"/>
          </a:xfrm>
          <a:prstGeom prst="roundRect">
            <a:avLst>
              <a:gd name="adj" fmla="val 5000"/>
            </a:avLst>
          </a:prstGeom>
          <a:solidFill>
            <a:srgbClr val="FBF9F3"/>
          </a:solidFill>
          <a:ln w="12700">
            <a:solidFill>
              <a:srgbClr val="E3DEC3"/>
            </a:solidFill>
            <a:prstDash val="solid"/>
          </a:ln>
        </p:spPr>
      </p:sp>
      <p:sp>
        <p:nvSpPr>
          <p:cNvPr id="24" name="Text 22"/>
          <p:cNvSpPr/>
          <p:nvPr/>
        </p:nvSpPr>
        <p:spPr>
          <a:xfrm>
            <a:off x="722376" y="4544568"/>
            <a:ext cx="1572768" cy="512064"/>
          </a:xfrm>
          <a:prstGeom prst="rect">
            <a:avLst/>
          </a:prstGeom>
          <a:noFill/>
          <a:ln/>
        </p:spPr>
        <p:txBody>
          <a:bodyPr wrap="square" lIns="0" tIns="0" rIns="0" bIns="0" rtlCol="0" anchor="ctr">
            <a:normAutofit/>
          </a:bodyPr>
          <a:lstStyle/>
          <a:p>
            <a:pPr algn="l" indent="0" marL="0">
              <a:buNone/>
            </a:pPr>
            <a:r>
              <a:rPr lang="en-US" sz="1050" b="1" dirty="0">
                <a:solidFill>
                  <a:srgbClr val="34422D"/>
                </a:solidFill>
                <a:latin typeface="Inter" pitchFamily="34" charset="0"/>
                <a:ea typeface="Inter" pitchFamily="34" charset="-122"/>
                <a:cs typeface="Inter" pitchFamily="34" charset="-120"/>
              </a:rPr>
              <a:t>AI</a:t>
            </a:r>
            <a:endParaRPr lang="en-US" sz="1050" dirty="0"/>
          </a:p>
        </p:txBody>
      </p:sp>
      <p:sp>
        <p:nvSpPr>
          <p:cNvPr id="25" name="Shape 23"/>
          <p:cNvSpPr/>
          <p:nvPr/>
        </p:nvSpPr>
        <p:spPr>
          <a:xfrm>
            <a:off x="2423160" y="4434840"/>
            <a:ext cx="4663440" cy="731520"/>
          </a:xfrm>
          <a:prstGeom prst="roundRect">
            <a:avLst>
              <a:gd name="adj" fmla="val 5000"/>
            </a:avLst>
          </a:prstGeom>
          <a:solidFill>
            <a:srgbClr val="FBF9F3"/>
          </a:solidFill>
          <a:ln w="12700">
            <a:solidFill>
              <a:srgbClr val="E3DEC3"/>
            </a:solidFill>
            <a:prstDash val="solid"/>
          </a:ln>
        </p:spPr>
      </p:sp>
      <p:sp>
        <p:nvSpPr>
          <p:cNvPr id="26" name="Text 24"/>
          <p:cNvSpPr/>
          <p:nvPr/>
        </p:nvSpPr>
        <p:spPr>
          <a:xfrm>
            <a:off x="2551176" y="4544568"/>
            <a:ext cx="4407408" cy="512064"/>
          </a:xfrm>
          <a:prstGeom prst="rect">
            <a:avLst/>
          </a:prstGeom>
          <a:noFill/>
          <a:ln/>
        </p:spPr>
        <p:txBody>
          <a:bodyPr wrap="square" lIns="0" tIns="0" rIns="0" bIns="0" rtlCol="0" anchor="ctr">
            <a:normAutofit/>
          </a:bodyPr>
          <a:lstStyle/>
          <a:p>
            <a:pPr algn="l" indent="0" marL="0">
              <a:buNone/>
            </a:pPr>
            <a:r>
              <a:rPr lang="en-US" sz="960" dirty="0">
                <a:solidFill>
                  <a:srgbClr val="6B675F"/>
                </a:solidFill>
                <a:latin typeface="Inter" pitchFamily="34" charset="0"/>
                <a:ea typeface="Inter" pitchFamily="34" charset="-122"/>
                <a:cs typeface="Inter" pitchFamily="34" charset="-120"/>
              </a:rPr>
              <a:t>Tıklanabilir AI Barista prototip deneyimi.</a:t>
            </a:r>
            <a:endParaRPr lang="en-US" sz="960" dirty="0"/>
          </a:p>
        </p:txBody>
      </p:sp>
      <p:sp>
        <p:nvSpPr>
          <p:cNvPr id="27" name="Shape 25"/>
          <p:cNvSpPr/>
          <p:nvPr/>
        </p:nvSpPr>
        <p:spPr>
          <a:xfrm>
            <a:off x="7086600" y="4434840"/>
            <a:ext cx="4572000" cy="731520"/>
          </a:xfrm>
          <a:prstGeom prst="roundRect">
            <a:avLst>
              <a:gd name="adj" fmla="val 5000"/>
            </a:avLst>
          </a:prstGeom>
          <a:solidFill>
            <a:srgbClr val="FBF9F3"/>
          </a:solidFill>
          <a:ln w="12700">
            <a:solidFill>
              <a:srgbClr val="E3DEC3"/>
            </a:solidFill>
            <a:prstDash val="solid"/>
          </a:ln>
        </p:spPr>
      </p:sp>
      <p:sp>
        <p:nvSpPr>
          <p:cNvPr id="28" name="Text 26"/>
          <p:cNvSpPr/>
          <p:nvPr/>
        </p:nvSpPr>
        <p:spPr>
          <a:xfrm>
            <a:off x="7214616" y="4544568"/>
            <a:ext cx="4315968" cy="512064"/>
          </a:xfrm>
          <a:prstGeom prst="rect">
            <a:avLst/>
          </a:prstGeom>
          <a:noFill/>
          <a:ln/>
        </p:spPr>
        <p:txBody>
          <a:bodyPr wrap="square" lIns="0" tIns="0" rIns="0" bIns="0" rtlCol="0" anchor="ctr">
            <a:normAutofit/>
          </a:bodyPr>
          <a:lstStyle/>
          <a:p>
            <a:pPr algn="l" indent="0" marL="0">
              <a:buNone/>
            </a:pPr>
            <a:r>
              <a:rPr lang="en-US" sz="960" dirty="0">
                <a:solidFill>
                  <a:srgbClr val="6B675F"/>
                </a:solidFill>
                <a:latin typeface="Inter" pitchFamily="34" charset="0"/>
                <a:ea typeface="Inter" pitchFamily="34" charset="-122"/>
                <a:cs typeface="Inter" pitchFamily="34" charset="-120"/>
              </a:rPr>
              <a:t>Harici LLM API ve production bilgi tabanı.</a:t>
            </a:r>
            <a:endParaRPr lang="en-US" sz="960" dirty="0"/>
          </a:p>
        </p:txBody>
      </p:sp>
      <p:sp>
        <p:nvSpPr>
          <p:cNvPr id="29" name="Shape 27"/>
          <p:cNvSpPr/>
          <p:nvPr/>
        </p:nvSpPr>
        <p:spPr>
          <a:xfrm>
            <a:off x="594360" y="5221224"/>
            <a:ext cx="1828800" cy="731520"/>
          </a:xfrm>
          <a:prstGeom prst="roundRect">
            <a:avLst>
              <a:gd name="adj" fmla="val 5000"/>
            </a:avLst>
          </a:prstGeom>
          <a:solidFill>
            <a:srgbClr val="F4F0E6"/>
          </a:solidFill>
          <a:ln w="12700">
            <a:solidFill>
              <a:srgbClr val="E3DEC3"/>
            </a:solidFill>
            <a:prstDash val="solid"/>
          </a:ln>
        </p:spPr>
      </p:sp>
      <p:sp>
        <p:nvSpPr>
          <p:cNvPr id="30" name="Text 28"/>
          <p:cNvSpPr/>
          <p:nvPr/>
        </p:nvSpPr>
        <p:spPr>
          <a:xfrm>
            <a:off x="722376" y="5330952"/>
            <a:ext cx="1572768" cy="512064"/>
          </a:xfrm>
          <a:prstGeom prst="rect">
            <a:avLst/>
          </a:prstGeom>
          <a:noFill/>
          <a:ln/>
        </p:spPr>
        <p:txBody>
          <a:bodyPr wrap="square" lIns="0" tIns="0" rIns="0" bIns="0" rtlCol="0" anchor="ctr">
            <a:normAutofit/>
          </a:bodyPr>
          <a:lstStyle/>
          <a:p>
            <a:pPr algn="l" indent="0" marL="0">
              <a:buNone/>
            </a:pPr>
            <a:r>
              <a:rPr lang="en-US" sz="1050" b="1" dirty="0">
                <a:solidFill>
                  <a:srgbClr val="34422D"/>
                </a:solidFill>
                <a:latin typeface="Inter" pitchFamily="34" charset="0"/>
                <a:ea typeface="Inter" pitchFamily="34" charset="-122"/>
                <a:cs typeface="Inter" pitchFamily="34" charset="-120"/>
              </a:rPr>
              <a:t>Lokasyon &amp; Menü</a:t>
            </a:r>
            <a:endParaRPr lang="en-US" sz="1050" dirty="0"/>
          </a:p>
        </p:txBody>
      </p:sp>
      <p:sp>
        <p:nvSpPr>
          <p:cNvPr id="31" name="Shape 29"/>
          <p:cNvSpPr/>
          <p:nvPr/>
        </p:nvSpPr>
        <p:spPr>
          <a:xfrm>
            <a:off x="2423160" y="5221224"/>
            <a:ext cx="4663440" cy="731520"/>
          </a:xfrm>
          <a:prstGeom prst="roundRect">
            <a:avLst>
              <a:gd name="adj" fmla="val 5000"/>
            </a:avLst>
          </a:prstGeom>
          <a:solidFill>
            <a:srgbClr val="F4F0E6"/>
          </a:solidFill>
          <a:ln w="12700">
            <a:solidFill>
              <a:srgbClr val="E3DEC3"/>
            </a:solidFill>
            <a:prstDash val="solid"/>
          </a:ln>
        </p:spPr>
      </p:sp>
      <p:sp>
        <p:nvSpPr>
          <p:cNvPr id="32" name="Text 30"/>
          <p:cNvSpPr/>
          <p:nvPr/>
        </p:nvSpPr>
        <p:spPr>
          <a:xfrm>
            <a:off x="2551176" y="5330952"/>
            <a:ext cx="4407408" cy="512064"/>
          </a:xfrm>
          <a:prstGeom prst="rect">
            <a:avLst/>
          </a:prstGeom>
          <a:noFill/>
          <a:ln/>
        </p:spPr>
        <p:txBody>
          <a:bodyPr wrap="square" lIns="0" tIns="0" rIns="0" bIns="0" rtlCol="0" anchor="ctr">
            <a:normAutofit/>
          </a:bodyPr>
          <a:lstStyle/>
          <a:p>
            <a:pPr algn="l" indent="0" marL="0">
              <a:buNone/>
            </a:pPr>
            <a:r>
              <a:rPr lang="en-US" sz="960" dirty="0">
                <a:solidFill>
                  <a:srgbClr val="6B675F"/>
                </a:solidFill>
                <a:latin typeface="Inter" pitchFamily="34" charset="0"/>
                <a:ea typeface="Inter" pitchFamily="34" charset="-122"/>
                <a:cs typeface="Inter" pitchFamily="34" charset="-120"/>
              </a:rPr>
              <a:t>Editoryal ürün dünyası ve demo ürün yapısı.</a:t>
            </a:r>
            <a:endParaRPr lang="en-US" sz="960" dirty="0"/>
          </a:p>
        </p:txBody>
      </p:sp>
      <p:sp>
        <p:nvSpPr>
          <p:cNvPr id="33" name="Shape 31"/>
          <p:cNvSpPr/>
          <p:nvPr/>
        </p:nvSpPr>
        <p:spPr>
          <a:xfrm>
            <a:off x="7086600" y="5221224"/>
            <a:ext cx="4572000" cy="731520"/>
          </a:xfrm>
          <a:prstGeom prst="roundRect">
            <a:avLst>
              <a:gd name="adj" fmla="val 5000"/>
            </a:avLst>
          </a:prstGeom>
          <a:solidFill>
            <a:srgbClr val="F4F0E6"/>
          </a:solidFill>
          <a:ln w="12700">
            <a:solidFill>
              <a:srgbClr val="E3DEC3"/>
            </a:solidFill>
            <a:prstDash val="solid"/>
          </a:ln>
        </p:spPr>
      </p:sp>
      <p:sp>
        <p:nvSpPr>
          <p:cNvPr id="34" name="Text 32"/>
          <p:cNvSpPr/>
          <p:nvPr/>
        </p:nvSpPr>
        <p:spPr>
          <a:xfrm>
            <a:off x="7214616" y="5330952"/>
            <a:ext cx="4315968" cy="512064"/>
          </a:xfrm>
          <a:prstGeom prst="rect">
            <a:avLst/>
          </a:prstGeom>
          <a:noFill/>
          <a:ln/>
        </p:spPr>
        <p:txBody>
          <a:bodyPr wrap="square" lIns="0" tIns="0" rIns="0" bIns="0" rtlCol="0" anchor="ctr">
            <a:normAutofit/>
          </a:bodyPr>
          <a:lstStyle/>
          <a:p>
            <a:pPr algn="l" indent="0" marL="0">
              <a:buNone/>
            </a:pPr>
            <a:r>
              <a:rPr lang="en-US" sz="960" dirty="0">
                <a:solidFill>
                  <a:srgbClr val="6B675F"/>
                </a:solidFill>
                <a:latin typeface="Inter" pitchFamily="34" charset="0"/>
                <a:ea typeface="Inter" pitchFamily="34" charset="-122"/>
                <a:cs typeface="Inter" pitchFamily="34" charset="-120"/>
              </a:rPr>
              <a:t>Kesin adres, resmi satış fiyatları ve onaylı reçeteler.</a:t>
            </a:r>
            <a:endParaRPr lang="en-US" sz="960" dirty="0"/>
          </a:p>
        </p:txBody>
      </p:sp>
      <p:sp>
        <p:nvSpPr>
          <p:cNvPr id="35" name="Text 33"/>
          <p:cNvSpPr/>
          <p:nvPr/>
        </p:nvSpPr>
        <p:spPr>
          <a:xfrm>
            <a:off x="594360" y="6144768"/>
            <a:ext cx="1554480" cy="219456"/>
          </a:xfrm>
          <a:prstGeom prst="rect">
            <a:avLst/>
          </a:prstGeom>
          <a:noFill/>
          <a:ln/>
        </p:spPr>
        <p:txBody>
          <a:bodyPr wrap="square" lIns="0" tIns="0" rIns="0" bIns="0" rtlCol="0" anchor="ctr">
            <a:normAutofit/>
          </a:bodyPr>
          <a:lstStyle/>
          <a:p>
            <a:pPr algn="l" indent="0" marL="0">
              <a:buNone/>
            </a:pPr>
            <a:r>
              <a:rPr lang="en-US" sz="900" b="1" spc="70" kern="0" dirty="0">
                <a:solidFill>
                  <a:srgbClr val="68734B"/>
                </a:solidFill>
                <a:latin typeface="Inter" pitchFamily="34" charset="0"/>
                <a:ea typeface="Inter" pitchFamily="34" charset="-122"/>
                <a:cs typeface="Inter" pitchFamily="34" charset="-120"/>
              </a:rPr>
              <a:t>KULLANILAN ARAÇLAR</a:t>
            </a:r>
            <a:endParaRPr lang="en-US" sz="900" dirty="0"/>
          </a:p>
        </p:txBody>
      </p:sp>
      <p:sp>
        <p:nvSpPr>
          <p:cNvPr id="36" name="Shape 34"/>
          <p:cNvSpPr/>
          <p:nvPr/>
        </p:nvSpPr>
        <p:spPr>
          <a:xfrm>
            <a:off x="2011680" y="6071616"/>
            <a:ext cx="1143000" cy="274320"/>
          </a:xfrm>
          <a:prstGeom prst="roundRect">
            <a:avLst>
              <a:gd name="adj" fmla="val 50000"/>
            </a:avLst>
          </a:prstGeom>
          <a:solidFill>
            <a:srgbClr val="E9EDE2"/>
          </a:solidFill>
          <a:ln w="12700">
            <a:solidFill>
              <a:srgbClr val="E9EDE2">
                <a:alpha val="0"/>
              </a:srgbClr>
            </a:solidFill>
            <a:prstDash val="solid"/>
          </a:ln>
        </p:spPr>
      </p:sp>
      <p:sp>
        <p:nvSpPr>
          <p:cNvPr id="37" name="Text 35"/>
          <p:cNvSpPr/>
          <p:nvPr/>
        </p:nvSpPr>
        <p:spPr>
          <a:xfrm>
            <a:off x="2093976" y="6089904"/>
            <a:ext cx="978408" cy="237744"/>
          </a:xfrm>
          <a:prstGeom prst="rect">
            <a:avLst/>
          </a:prstGeom>
          <a:noFill/>
          <a:ln/>
        </p:spPr>
        <p:txBody>
          <a:bodyPr wrap="square" lIns="0" tIns="0" rIns="0" bIns="0" rtlCol="0" anchor="ctr">
            <a:normAutofit/>
          </a:bodyPr>
          <a:lstStyle/>
          <a:p>
            <a:pPr algn="ctr" indent="0" marL="0">
              <a:buNone/>
            </a:pPr>
            <a:r>
              <a:rPr lang="en-US" sz="880" b="1" dirty="0">
                <a:solidFill>
                  <a:srgbClr val="34422D"/>
                </a:solidFill>
                <a:latin typeface="Inter" pitchFamily="34" charset="0"/>
                <a:ea typeface="Inter" pitchFamily="34" charset="-122"/>
                <a:cs typeface="Inter" pitchFamily="34" charset="-120"/>
              </a:rPr>
              <a:t>Next.js</a:t>
            </a:r>
            <a:endParaRPr lang="en-US" sz="880" dirty="0"/>
          </a:p>
        </p:txBody>
      </p:sp>
      <p:sp>
        <p:nvSpPr>
          <p:cNvPr id="38" name="Shape 36"/>
          <p:cNvSpPr/>
          <p:nvPr/>
        </p:nvSpPr>
        <p:spPr>
          <a:xfrm>
            <a:off x="3337560" y="6071616"/>
            <a:ext cx="1143000" cy="274320"/>
          </a:xfrm>
          <a:prstGeom prst="roundRect">
            <a:avLst>
              <a:gd name="adj" fmla="val 50000"/>
            </a:avLst>
          </a:prstGeom>
          <a:solidFill>
            <a:srgbClr val="E9EDE2"/>
          </a:solidFill>
          <a:ln w="12700">
            <a:solidFill>
              <a:srgbClr val="E9EDE2">
                <a:alpha val="0"/>
              </a:srgbClr>
            </a:solidFill>
            <a:prstDash val="solid"/>
          </a:ln>
        </p:spPr>
      </p:sp>
      <p:sp>
        <p:nvSpPr>
          <p:cNvPr id="39" name="Text 37"/>
          <p:cNvSpPr/>
          <p:nvPr/>
        </p:nvSpPr>
        <p:spPr>
          <a:xfrm>
            <a:off x="3419856" y="6089904"/>
            <a:ext cx="978408" cy="237744"/>
          </a:xfrm>
          <a:prstGeom prst="rect">
            <a:avLst/>
          </a:prstGeom>
          <a:noFill/>
          <a:ln/>
        </p:spPr>
        <p:txBody>
          <a:bodyPr wrap="square" lIns="0" tIns="0" rIns="0" bIns="0" rtlCol="0" anchor="ctr">
            <a:normAutofit/>
          </a:bodyPr>
          <a:lstStyle/>
          <a:p>
            <a:pPr algn="ctr" indent="0" marL="0">
              <a:buNone/>
            </a:pPr>
            <a:r>
              <a:rPr lang="en-US" sz="880" b="1" dirty="0">
                <a:solidFill>
                  <a:srgbClr val="34422D"/>
                </a:solidFill>
                <a:latin typeface="Inter" pitchFamily="34" charset="0"/>
                <a:ea typeface="Inter" pitchFamily="34" charset="-122"/>
                <a:cs typeface="Inter" pitchFamily="34" charset="-120"/>
              </a:rPr>
              <a:t>React</a:t>
            </a:r>
            <a:endParaRPr lang="en-US" sz="880" dirty="0"/>
          </a:p>
        </p:txBody>
      </p:sp>
      <p:sp>
        <p:nvSpPr>
          <p:cNvPr id="40" name="Shape 38"/>
          <p:cNvSpPr/>
          <p:nvPr/>
        </p:nvSpPr>
        <p:spPr>
          <a:xfrm>
            <a:off x="4663440" y="6071616"/>
            <a:ext cx="1143000" cy="274320"/>
          </a:xfrm>
          <a:prstGeom prst="roundRect">
            <a:avLst>
              <a:gd name="adj" fmla="val 50000"/>
            </a:avLst>
          </a:prstGeom>
          <a:solidFill>
            <a:srgbClr val="E9EDE2"/>
          </a:solidFill>
          <a:ln w="12700">
            <a:solidFill>
              <a:srgbClr val="E9EDE2">
                <a:alpha val="0"/>
              </a:srgbClr>
            </a:solidFill>
            <a:prstDash val="solid"/>
          </a:ln>
        </p:spPr>
      </p:sp>
      <p:sp>
        <p:nvSpPr>
          <p:cNvPr id="41" name="Text 39"/>
          <p:cNvSpPr/>
          <p:nvPr/>
        </p:nvSpPr>
        <p:spPr>
          <a:xfrm>
            <a:off x="4745736" y="6089904"/>
            <a:ext cx="978408" cy="237744"/>
          </a:xfrm>
          <a:prstGeom prst="rect">
            <a:avLst/>
          </a:prstGeom>
          <a:noFill/>
          <a:ln/>
        </p:spPr>
        <p:txBody>
          <a:bodyPr wrap="square" lIns="0" tIns="0" rIns="0" bIns="0" rtlCol="0" anchor="ctr">
            <a:normAutofit/>
          </a:bodyPr>
          <a:lstStyle/>
          <a:p>
            <a:pPr algn="ctr" indent="0" marL="0">
              <a:buNone/>
            </a:pPr>
            <a:r>
              <a:rPr lang="en-US" sz="880" b="1" dirty="0">
                <a:solidFill>
                  <a:srgbClr val="34422D"/>
                </a:solidFill>
                <a:latin typeface="Inter" pitchFamily="34" charset="0"/>
                <a:ea typeface="Inter" pitchFamily="34" charset="-122"/>
                <a:cs typeface="Inter" pitchFamily="34" charset="-120"/>
              </a:rPr>
              <a:t>Tailwind CSS</a:t>
            </a:r>
            <a:endParaRPr lang="en-US" sz="880" dirty="0"/>
          </a:p>
        </p:txBody>
      </p:sp>
      <p:sp>
        <p:nvSpPr>
          <p:cNvPr id="42" name="Shape 40"/>
          <p:cNvSpPr/>
          <p:nvPr/>
        </p:nvSpPr>
        <p:spPr>
          <a:xfrm>
            <a:off x="5989320" y="6071616"/>
            <a:ext cx="1143000" cy="274320"/>
          </a:xfrm>
          <a:prstGeom prst="roundRect">
            <a:avLst>
              <a:gd name="adj" fmla="val 50000"/>
            </a:avLst>
          </a:prstGeom>
          <a:solidFill>
            <a:srgbClr val="E9EDE2"/>
          </a:solidFill>
          <a:ln w="12700">
            <a:solidFill>
              <a:srgbClr val="E9EDE2">
                <a:alpha val="0"/>
              </a:srgbClr>
            </a:solidFill>
            <a:prstDash val="solid"/>
          </a:ln>
        </p:spPr>
      </p:sp>
      <p:sp>
        <p:nvSpPr>
          <p:cNvPr id="43" name="Text 41"/>
          <p:cNvSpPr/>
          <p:nvPr/>
        </p:nvSpPr>
        <p:spPr>
          <a:xfrm>
            <a:off x="6071616" y="6089904"/>
            <a:ext cx="978408" cy="237744"/>
          </a:xfrm>
          <a:prstGeom prst="rect">
            <a:avLst/>
          </a:prstGeom>
          <a:noFill/>
          <a:ln/>
        </p:spPr>
        <p:txBody>
          <a:bodyPr wrap="square" lIns="0" tIns="0" rIns="0" bIns="0" rtlCol="0" anchor="ctr">
            <a:normAutofit/>
          </a:bodyPr>
          <a:lstStyle/>
          <a:p>
            <a:pPr algn="ctr" indent="0" marL="0">
              <a:buNone/>
            </a:pPr>
            <a:r>
              <a:rPr lang="en-US" sz="880" b="1" dirty="0">
                <a:solidFill>
                  <a:srgbClr val="34422D"/>
                </a:solidFill>
                <a:latin typeface="Inter" pitchFamily="34" charset="0"/>
                <a:ea typeface="Inter" pitchFamily="34" charset="-122"/>
                <a:cs typeface="Inter" pitchFamily="34" charset="-120"/>
              </a:rPr>
              <a:t>Chrome Headless</a:t>
            </a:r>
            <a:endParaRPr lang="en-US" sz="880" dirty="0"/>
          </a:p>
        </p:txBody>
      </p:sp>
      <p:sp>
        <p:nvSpPr>
          <p:cNvPr id="44" name="Shape 42"/>
          <p:cNvSpPr/>
          <p:nvPr/>
        </p:nvSpPr>
        <p:spPr>
          <a:xfrm>
            <a:off x="7315200" y="6071616"/>
            <a:ext cx="1143000" cy="274320"/>
          </a:xfrm>
          <a:prstGeom prst="roundRect">
            <a:avLst>
              <a:gd name="adj" fmla="val 50000"/>
            </a:avLst>
          </a:prstGeom>
          <a:solidFill>
            <a:srgbClr val="E9EDE2"/>
          </a:solidFill>
          <a:ln w="12700">
            <a:solidFill>
              <a:srgbClr val="E9EDE2">
                <a:alpha val="0"/>
              </a:srgbClr>
            </a:solidFill>
            <a:prstDash val="solid"/>
          </a:ln>
        </p:spPr>
      </p:sp>
      <p:sp>
        <p:nvSpPr>
          <p:cNvPr id="45" name="Text 43"/>
          <p:cNvSpPr/>
          <p:nvPr/>
        </p:nvSpPr>
        <p:spPr>
          <a:xfrm>
            <a:off x="7397496" y="6089904"/>
            <a:ext cx="978408" cy="237744"/>
          </a:xfrm>
          <a:prstGeom prst="rect">
            <a:avLst/>
          </a:prstGeom>
          <a:noFill/>
          <a:ln/>
        </p:spPr>
        <p:txBody>
          <a:bodyPr wrap="square" lIns="0" tIns="0" rIns="0" bIns="0" rtlCol="0" anchor="ctr">
            <a:normAutofit/>
          </a:bodyPr>
          <a:lstStyle/>
          <a:p>
            <a:pPr algn="ctr" indent="0" marL="0">
              <a:buNone/>
            </a:pPr>
            <a:r>
              <a:rPr lang="en-US" sz="880" b="1" dirty="0">
                <a:solidFill>
                  <a:srgbClr val="34422D"/>
                </a:solidFill>
                <a:latin typeface="Inter" pitchFamily="34" charset="0"/>
                <a:ea typeface="Inter" pitchFamily="34" charset="-122"/>
                <a:cs typeface="Inter" pitchFamily="34" charset="-120"/>
              </a:rPr>
              <a:t>Python + OpenCV</a:t>
            </a:r>
            <a:endParaRPr lang="en-US" sz="88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8D8A80"/>
                </a:solidFill>
                <a:latin typeface="Inter"/>
                <a:ea typeface="Inter"/>
                <a:cs typeface="Inter"/>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621792"/>
            <a:ext cx="4480560" cy="237744"/>
          </a:xfrm>
          <a:prstGeom prst="rect">
            <a:avLst/>
          </a:prstGeom>
          <a:noFill/>
          <a:ln/>
        </p:spPr>
        <p:txBody>
          <a:bodyPr wrap="square" lIns="0" tIns="0" rIns="0" bIns="0" rtlCol="0" anchor="ctr">
            <a:normAutofit/>
          </a:bodyPr>
          <a:lstStyle/>
          <a:p>
            <a:pPr algn="l" indent="0" marL="0">
              <a:buNone/>
            </a:pPr>
            <a:r>
              <a:rPr lang="en-US" sz="900" b="1" spc="125" kern="0" dirty="0">
                <a:solidFill>
                  <a:srgbClr val="68734B"/>
                </a:solidFill>
                <a:latin typeface="Inter" pitchFamily="34" charset="0"/>
                <a:ea typeface="Inter" pitchFamily="34" charset="-122"/>
                <a:cs typeface="Inter" pitchFamily="34" charset="-120"/>
              </a:rPr>
              <a:t>07 / GERÇEK KULLANIMA GEÇIŞ</a:t>
            </a:r>
            <a:endParaRPr lang="en-US" sz="900" dirty="0"/>
          </a:p>
        </p:txBody>
      </p:sp>
      <p:sp>
        <p:nvSpPr>
          <p:cNvPr id="3" name="Text 1"/>
          <p:cNvSpPr/>
          <p:nvPr/>
        </p:nvSpPr>
        <p:spPr>
          <a:xfrm>
            <a:off x="594360" y="941832"/>
            <a:ext cx="10789920" cy="658368"/>
          </a:xfrm>
          <a:prstGeom prst="rect">
            <a:avLst/>
          </a:prstGeom>
          <a:noFill/>
          <a:ln/>
        </p:spPr>
        <p:txBody>
          <a:bodyPr wrap="square" lIns="0" tIns="0" rIns="0" bIns="0" rtlCol="0" anchor="ctr">
            <a:normAutofit/>
          </a:bodyPr>
          <a:lstStyle/>
          <a:p>
            <a:pPr algn="l" indent="0" marL="0">
              <a:buNone/>
            </a:pPr>
            <a:r>
              <a:rPr lang="en-US" sz="2800" b="1" dirty="0">
                <a:solidFill>
                  <a:srgbClr val="34422D"/>
                </a:solidFill>
                <a:latin typeface="Inter" pitchFamily="34" charset="0"/>
                <a:ea typeface="Inter" pitchFamily="34" charset="-122"/>
                <a:cs typeface="Inter" pitchFamily="34" charset="-120"/>
              </a:rPr>
              <a:t>Demo → doğrulanmış marka deneyimi.</a:t>
            </a:r>
            <a:endParaRPr lang="en-US" sz="2800" dirty="0"/>
          </a:p>
        </p:txBody>
      </p:sp>
      <p:sp>
        <p:nvSpPr>
          <p:cNvPr id="4" name="Text 2"/>
          <p:cNvSpPr/>
          <p:nvPr/>
        </p:nvSpPr>
        <p:spPr>
          <a:xfrm>
            <a:off x="594360" y="1664208"/>
            <a:ext cx="10607040" cy="457200"/>
          </a:xfrm>
          <a:prstGeom prst="rect">
            <a:avLst/>
          </a:prstGeom>
          <a:noFill/>
          <a:ln/>
        </p:spPr>
        <p:txBody>
          <a:bodyPr wrap="square" lIns="0" tIns="0" rIns="0" bIns="0" rtlCol="0" anchor="ctr">
            <a:normAutofit/>
          </a:bodyPr>
          <a:lstStyle/>
          <a:p>
            <a:pPr algn="l" indent="0" marL="0">
              <a:buNone/>
            </a:pPr>
            <a:r>
              <a:rPr lang="en-US" sz="1250" dirty="0">
                <a:solidFill>
                  <a:srgbClr val="6B675F"/>
                </a:solidFill>
                <a:latin typeface="Inter" pitchFamily="34" charset="0"/>
                <a:ea typeface="Inter" pitchFamily="34" charset="-122"/>
                <a:cs typeface="Inter" pitchFamily="34" charset="-120"/>
              </a:rPr>
              <a:t>Canlıya geçiş için dört net adım ve teslim edilen bütün proje paketi.</a:t>
            </a:r>
            <a:endParaRPr lang="en-US" sz="1250" dirty="0"/>
          </a:p>
        </p:txBody>
      </p:sp>
      <p:sp>
        <p:nvSpPr>
          <p:cNvPr id="5" name="Shape 3"/>
          <p:cNvSpPr/>
          <p:nvPr/>
        </p:nvSpPr>
        <p:spPr>
          <a:xfrm>
            <a:off x="594360" y="2395728"/>
            <a:ext cx="2450592" cy="2212848"/>
          </a:xfrm>
          <a:prstGeom prst="roundRect">
            <a:avLst>
              <a:gd name="adj" fmla="val 10744"/>
            </a:avLst>
          </a:prstGeom>
          <a:solidFill>
            <a:srgbClr val="FFFFFF"/>
          </a:solidFill>
          <a:ln w="12700">
            <a:solidFill>
              <a:srgbClr val="E3DEC3"/>
            </a:solidFill>
            <a:prstDash val="solid"/>
          </a:ln>
        </p:spPr>
      </p:sp>
      <p:sp>
        <p:nvSpPr>
          <p:cNvPr id="6" name="Shape 4"/>
          <p:cNvSpPr/>
          <p:nvPr/>
        </p:nvSpPr>
        <p:spPr>
          <a:xfrm>
            <a:off x="777240" y="2651760"/>
            <a:ext cx="438912" cy="256032"/>
          </a:xfrm>
          <a:prstGeom prst="roundRect">
            <a:avLst>
              <a:gd name="adj" fmla="val 50000"/>
            </a:avLst>
          </a:prstGeom>
          <a:solidFill>
            <a:srgbClr val="E9EDE2"/>
          </a:solidFill>
          <a:ln w="12700">
            <a:solidFill>
              <a:srgbClr val="E9EDE2">
                <a:alpha val="0"/>
              </a:srgbClr>
            </a:solidFill>
            <a:prstDash val="solid"/>
          </a:ln>
        </p:spPr>
      </p:sp>
      <p:sp>
        <p:nvSpPr>
          <p:cNvPr id="7" name="Text 5"/>
          <p:cNvSpPr/>
          <p:nvPr/>
        </p:nvSpPr>
        <p:spPr>
          <a:xfrm>
            <a:off x="859536" y="2670048"/>
            <a:ext cx="274320" cy="219456"/>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1</a:t>
            </a:r>
            <a:endParaRPr lang="en-US" sz="880" dirty="0"/>
          </a:p>
        </p:txBody>
      </p:sp>
      <p:sp>
        <p:nvSpPr>
          <p:cNvPr id="8" name="Text 6"/>
          <p:cNvSpPr/>
          <p:nvPr/>
        </p:nvSpPr>
        <p:spPr>
          <a:xfrm>
            <a:off x="777240" y="3090672"/>
            <a:ext cx="1920240" cy="310896"/>
          </a:xfrm>
          <a:prstGeom prst="rect">
            <a:avLst/>
          </a:prstGeom>
          <a:noFill/>
          <a:ln/>
        </p:spPr>
        <p:txBody>
          <a:bodyPr wrap="square" lIns="0" tIns="0" rIns="0" bIns="0" rtlCol="0" anchor="ctr">
            <a:normAutofit/>
          </a:bodyPr>
          <a:lstStyle/>
          <a:p>
            <a:pPr algn="l" indent="0" marL="0">
              <a:buNone/>
            </a:pPr>
            <a:r>
              <a:rPr lang="en-US" sz="1250" b="1" dirty="0">
                <a:solidFill>
                  <a:srgbClr val="34422D"/>
                </a:solidFill>
                <a:latin typeface="Inter" pitchFamily="34" charset="0"/>
                <a:ea typeface="Inter" pitchFamily="34" charset="-122"/>
                <a:cs typeface="Inter" pitchFamily="34" charset="-120"/>
              </a:rPr>
              <a:t>İÇERİK ONAYI</a:t>
            </a:r>
            <a:endParaRPr lang="en-US" sz="1250" dirty="0"/>
          </a:p>
        </p:txBody>
      </p:sp>
      <p:sp>
        <p:nvSpPr>
          <p:cNvPr id="9" name="Text 7"/>
          <p:cNvSpPr/>
          <p:nvPr/>
        </p:nvSpPr>
        <p:spPr>
          <a:xfrm>
            <a:off x="777240" y="3602736"/>
            <a:ext cx="1938528" cy="749808"/>
          </a:xfrm>
          <a:prstGeom prst="rect">
            <a:avLst/>
          </a:prstGeom>
          <a:noFill/>
          <a:ln/>
        </p:spPr>
        <p:txBody>
          <a:bodyPr wrap="square" lIns="0" tIns="0" rIns="0" bIns="0" rtlCol="0" anchor="ctr">
            <a:normAutofit/>
          </a:bodyPr>
          <a:lstStyle/>
          <a:p>
            <a:pPr algn="l" indent="0" marL="0">
              <a:buNone/>
            </a:pPr>
            <a:r>
              <a:rPr lang="en-US" sz="1000" dirty="0">
                <a:solidFill>
                  <a:srgbClr val="6B675F"/>
                </a:solidFill>
                <a:latin typeface="Inter" pitchFamily="34" charset="0"/>
                <a:ea typeface="Inter" pitchFamily="34" charset="-122"/>
                <a:cs typeface="Inter" pitchFamily="34" charset="-120"/>
              </a:rPr>
              <a:t>Menü isimleri</a:t>
            </a:r>
            <a:endParaRPr lang="en-US" sz="1000" dirty="0"/>
          </a:p>
          <a:p>
            <a:pPr algn="l" indent="0" marL="0">
              <a:buNone/>
            </a:pPr>
            <a:r>
              <a:rPr lang="en-US" sz="1000" dirty="0">
                <a:solidFill>
                  <a:srgbClr val="6B675F"/>
                </a:solidFill>
                <a:latin typeface="Inter" pitchFamily="34" charset="0"/>
                <a:ea typeface="Inter" pitchFamily="34" charset="-122"/>
                <a:cs typeface="Inter" pitchFamily="34" charset="-120"/>
              </a:rPr>
              <a:t>Marka tonu</a:t>
            </a:r>
            <a:endParaRPr lang="en-US" sz="1000" dirty="0"/>
          </a:p>
          <a:p>
            <a:pPr algn="l" indent="0" marL="0">
              <a:buNone/>
            </a:pPr>
            <a:r>
              <a:rPr lang="en-US" sz="1000" dirty="0">
                <a:solidFill>
                  <a:srgbClr val="6B675F"/>
                </a:solidFill>
                <a:latin typeface="Inter" pitchFamily="34" charset="0"/>
                <a:ea typeface="Inter" pitchFamily="34" charset="-122"/>
                <a:cs typeface="Inter" pitchFamily="34" charset="-120"/>
              </a:rPr>
              <a:t>İçerik kontrolü</a:t>
            </a:r>
            <a:endParaRPr lang="en-US" sz="1000" dirty="0"/>
          </a:p>
        </p:txBody>
      </p:sp>
      <p:sp>
        <p:nvSpPr>
          <p:cNvPr id="10" name="Text 8"/>
          <p:cNvSpPr/>
          <p:nvPr/>
        </p:nvSpPr>
        <p:spPr>
          <a:xfrm>
            <a:off x="3108960" y="3264408"/>
            <a:ext cx="274320" cy="365760"/>
          </a:xfrm>
          <a:prstGeom prst="rect">
            <a:avLst/>
          </a:prstGeom>
          <a:noFill/>
          <a:ln/>
        </p:spPr>
        <p:txBody>
          <a:bodyPr wrap="square" lIns="0" tIns="0" rIns="0" bIns="0" rtlCol="0" anchor="ctr">
            <a:normAutofit/>
          </a:bodyPr>
          <a:lstStyle/>
          <a:p>
            <a:pPr algn="ctr" indent="0" marL="0">
              <a:buNone/>
            </a:pPr>
            <a:r>
              <a:rPr lang="en-US" sz="1800" b="1" dirty="0">
                <a:solidFill>
                  <a:srgbClr val="68734B"/>
                </a:solidFill>
                <a:latin typeface="Inter" pitchFamily="34" charset="0"/>
                <a:ea typeface="Inter" pitchFamily="34" charset="-122"/>
                <a:cs typeface="Inter" pitchFamily="34" charset="-120"/>
              </a:rPr>
              <a:t>→</a:t>
            </a:r>
            <a:endParaRPr lang="en-US" sz="1800" dirty="0"/>
          </a:p>
        </p:txBody>
      </p:sp>
      <p:sp>
        <p:nvSpPr>
          <p:cNvPr id="11" name="Shape 9"/>
          <p:cNvSpPr/>
          <p:nvPr/>
        </p:nvSpPr>
        <p:spPr>
          <a:xfrm>
            <a:off x="3355848" y="2395728"/>
            <a:ext cx="2450592" cy="2212848"/>
          </a:xfrm>
          <a:prstGeom prst="roundRect">
            <a:avLst>
              <a:gd name="adj" fmla="val 10744"/>
            </a:avLst>
          </a:prstGeom>
          <a:solidFill>
            <a:srgbClr val="FFFFFF"/>
          </a:solidFill>
          <a:ln w="12700">
            <a:solidFill>
              <a:srgbClr val="E3DEC3"/>
            </a:solidFill>
            <a:prstDash val="solid"/>
          </a:ln>
        </p:spPr>
      </p:sp>
      <p:sp>
        <p:nvSpPr>
          <p:cNvPr id="12" name="Shape 10"/>
          <p:cNvSpPr/>
          <p:nvPr/>
        </p:nvSpPr>
        <p:spPr>
          <a:xfrm>
            <a:off x="3538728" y="2651760"/>
            <a:ext cx="438912" cy="256032"/>
          </a:xfrm>
          <a:prstGeom prst="roundRect">
            <a:avLst>
              <a:gd name="adj" fmla="val 50000"/>
            </a:avLst>
          </a:prstGeom>
          <a:solidFill>
            <a:srgbClr val="E9EDE2"/>
          </a:solidFill>
          <a:ln w="12700">
            <a:solidFill>
              <a:srgbClr val="E9EDE2">
                <a:alpha val="0"/>
              </a:srgbClr>
            </a:solidFill>
            <a:prstDash val="solid"/>
          </a:ln>
        </p:spPr>
      </p:sp>
      <p:sp>
        <p:nvSpPr>
          <p:cNvPr id="13" name="Text 11"/>
          <p:cNvSpPr/>
          <p:nvPr/>
        </p:nvSpPr>
        <p:spPr>
          <a:xfrm>
            <a:off x="3621024" y="2670048"/>
            <a:ext cx="274320" cy="219456"/>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2</a:t>
            </a:r>
            <a:endParaRPr lang="en-US" sz="880" dirty="0"/>
          </a:p>
        </p:txBody>
      </p:sp>
      <p:sp>
        <p:nvSpPr>
          <p:cNvPr id="14" name="Text 12"/>
          <p:cNvSpPr/>
          <p:nvPr/>
        </p:nvSpPr>
        <p:spPr>
          <a:xfrm>
            <a:off x="3538728" y="3090672"/>
            <a:ext cx="1920240" cy="310896"/>
          </a:xfrm>
          <a:prstGeom prst="rect">
            <a:avLst/>
          </a:prstGeom>
          <a:noFill/>
          <a:ln/>
        </p:spPr>
        <p:txBody>
          <a:bodyPr wrap="square" lIns="0" tIns="0" rIns="0" bIns="0" rtlCol="0" anchor="ctr">
            <a:normAutofit/>
          </a:bodyPr>
          <a:lstStyle/>
          <a:p>
            <a:pPr algn="l" indent="0" marL="0">
              <a:buNone/>
            </a:pPr>
            <a:r>
              <a:rPr lang="en-US" sz="1250" b="1" dirty="0">
                <a:solidFill>
                  <a:srgbClr val="34422D"/>
                </a:solidFill>
                <a:latin typeface="Inter" pitchFamily="34" charset="0"/>
                <a:ea typeface="Inter" pitchFamily="34" charset="-122"/>
                <a:cs typeface="Inter" pitchFamily="34" charset="-120"/>
              </a:rPr>
              <a:t>GERÇEK VERİLER</a:t>
            </a:r>
            <a:endParaRPr lang="en-US" sz="1250" dirty="0"/>
          </a:p>
        </p:txBody>
      </p:sp>
      <p:sp>
        <p:nvSpPr>
          <p:cNvPr id="15" name="Text 13"/>
          <p:cNvSpPr/>
          <p:nvPr/>
        </p:nvSpPr>
        <p:spPr>
          <a:xfrm>
            <a:off x="3538728" y="3602736"/>
            <a:ext cx="1938528" cy="749808"/>
          </a:xfrm>
          <a:prstGeom prst="rect">
            <a:avLst/>
          </a:prstGeom>
          <a:noFill/>
          <a:ln/>
        </p:spPr>
        <p:txBody>
          <a:bodyPr wrap="square" lIns="0" tIns="0" rIns="0" bIns="0" rtlCol="0" anchor="ctr">
            <a:normAutofit/>
          </a:bodyPr>
          <a:lstStyle/>
          <a:p>
            <a:pPr algn="l" indent="0" marL="0">
              <a:buNone/>
            </a:pPr>
            <a:r>
              <a:rPr lang="en-US" sz="1000" dirty="0">
                <a:solidFill>
                  <a:srgbClr val="6B675F"/>
                </a:solidFill>
                <a:latin typeface="Inter" pitchFamily="34" charset="0"/>
                <a:ea typeface="Inter" pitchFamily="34" charset="-122"/>
                <a:cs typeface="Inter" pitchFamily="34" charset="-120"/>
              </a:rPr>
              <a:t>Adres / saatler</a:t>
            </a:r>
            <a:endParaRPr lang="en-US" sz="1000" dirty="0"/>
          </a:p>
          <a:p>
            <a:pPr algn="l" indent="0" marL="0">
              <a:buNone/>
            </a:pPr>
            <a:r>
              <a:rPr lang="en-US" sz="1000" dirty="0">
                <a:solidFill>
                  <a:srgbClr val="6B675F"/>
                </a:solidFill>
                <a:latin typeface="Inter" pitchFamily="34" charset="0"/>
                <a:ea typeface="Inter" pitchFamily="34" charset="-122"/>
                <a:cs typeface="Inter" pitchFamily="34" charset="-120"/>
              </a:rPr>
              <a:t>Fiyatlar</a:t>
            </a:r>
            <a:endParaRPr lang="en-US" sz="1000" dirty="0"/>
          </a:p>
          <a:p>
            <a:pPr algn="l" indent="0" marL="0">
              <a:buNone/>
            </a:pPr>
            <a:r>
              <a:rPr lang="en-US" sz="1000" dirty="0">
                <a:solidFill>
                  <a:srgbClr val="6B675F"/>
                </a:solidFill>
                <a:latin typeface="Inter" pitchFamily="34" charset="0"/>
                <a:ea typeface="Inter" pitchFamily="34" charset="-122"/>
                <a:cs typeface="Inter" pitchFamily="34" charset="-120"/>
              </a:rPr>
              <a:t>Final ürün bilgisi</a:t>
            </a:r>
            <a:endParaRPr lang="en-US" sz="1000" dirty="0"/>
          </a:p>
        </p:txBody>
      </p:sp>
      <p:sp>
        <p:nvSpPr>
          <p:cNvPr id="16" name="Text 14"/>
          <p:cNvSpPr/>
          <p:nvPr/>
        </p:nvSpPr>
        <p:spPr>
          <a:xfrm>
            <a:off x="5870448" y="3264408"/>
            <a:ext cx="274320" cy="365760"/>
          </a:xfrm>
          <a:prstGeom prst="rect">
            <a:avLst/>
          </a:prstGeom>
          <a:noFill/>
          <a:ln/>
        </p:spPr>
        <p:txBody>
          <a:bodyPr wrap="square" lIns="0" tIns="0" rIns="0" bIns="0" rtlCol="0" anchor="ctr">
            <a:normAutofit/>
          </a:bodyPr>
          <a:lstStyle/>
          <a:p>
            <a:pPr algn="ctr" indent="0" marL="0">
              <a:buNone/>
            </a:pPr>
            <a:r>
              <a:rPr lang="en-US" sz="1800" b="1" dirty="0">
                <a:solidFill>
                  <a:srgbClr val="68734B"/>
                </a:solidFill>
                <a:latin typeface="Inter" pitchFamily="34" charset="0"/>
                <a:ea typeface="Inter" pitchFamily="34" charset="-122"/>
                <a:cs typeface="Inter" pitchFamily="34" charset="-120"/>
              </a:rPr>
              <a:t>→</a:t>
            </a:r>
            <a:endParaRPr lang="en-US" sz="1800" dirty="0"/>
          </a:p>
        </p:txBody>
      </p:sp>
      <p:sp>
        <p:nvSpPr>
          <p:cNvPr id="17" name="Shape 15"/>
          <p:cNvSpPr/>
          <p:nvPr/>
        </p:nvSpPr>
        <p:spPr>
          <a:xfrm>
            <a:off x="6117336" y="2395728"/>
            <a:ext cx="2450592" cy="2212848"/>
          </a:xfrm>
          <a:prstGeom prst="roundRect">
            <a:avLst>
              <a:gd name="adj" fmla="val 10744"/>
            </a:avLst>
          </a:prstGeom>
          <a:solidFill>
            <a:srgbClr val="FFFFFF"/>
          </a:solidFill>
          <a:ln w="12700">
            <a:solidFill>
              <a:srgbClr val="E3DEC3"/>
            </a:solidFill>
            <a:prstDash val="solid"/>
          </a:ln>
        </p:spPr>
      </p:sp>
      <p:sp>
        <p:nvSpPr>
          <p:cNvPr id="18" name="Shape 16"/>
          <p:cNvSpPr/>
          <p:nvPr/>
        </p:nvSpPr>
        <p:spPr>
          <a:xfrm>
            <a:off x="6300216" y="2651760"/>
            <a:ext cx="438912" cy="256032"/>
          </a:xfrm>
          <a:prstGeom prst="roundRect">
            <a:avLst>
              <a:gd name="adj" fmla="val 50000"/>
            </a:avLst>
          </a:prstGeom>
          <a:solidFill>
            <a:srgbClr val="E9EDE2"/>
          </a:solidFill>
          <a:ln w="12700">
            <a:solidFill>
              <a:srgbClr val="E9EDE2">
                <a:alpha val="0"/>
              </a:srgbClr>
            </a:solidFill>
            <a:prstDash val="solid"/>
          </a:ln>
        </p:spPr>
      </p:sp>
      <p:sp>
        <p:nvSpPr>
          <p:cNvPr id="19" name="Text 17"/>
          <p:cNvSpPr/>
          <p:nvPr/>
        </p:nvSpPr>
        <p:spPr>
          <a:xfrm>
            <a:off x="6382512" y="2670048"/>
            <a:ext cx="274320" cy="219456"/>
          </a:xfrm>
          <a:prstGeom prst="rect">
            <a:avLst/>
          </a:prstGeom>
          <a:noFill/>
          <a:ln/>
        </p:spPr>
        <p:txBody>
          <a:bodyPr wrap="square" lIns="0" tIns="0" rIns="0" bIns="0" rtlCol="0" anchor="ctr">
            <a:normAutofit/>
          </a:bodyPr>
          <a:lstStyle/>
          <a:p>
            <a:pPr algn="ctr" indent="0" marL="0">
              <a:buNone/>
            </a:pPr>
            <a:r>
              <a:rPr lang="en-US" sz="880" b="1" dirty="0">
                <a:solidFill>
                  <a:srgbClr val="68734B"/>
                </a:solidFill>
                <a:latin typeface="Inter" pitchFamily="34" charset="0"/>
                <a:ea typeface="Inter" pitchFamily="34" charset="-122"/>
                <a:cs typeface="Inter" pitchFamily="34" charset="-120"/>
              </a:rPr>
              <a:t>3</a:t>
            </a:r>
            <a:endParaRPr lang="en-US" sz="880" dirty="0"/>
          </a:p>
        </p:txBody>
      </p:sp>
      <p:sp>
        <p:nvSpPr>
          <p:cNvPr id="20" name="Text 18"/>
          <p:cNvSpPr/>
          <p:nvPr/>
        </p:nvSpPr>
        <p:spPr>
          <a:xfrm>
            <a:off x="6300216" y="3090672"/>
            <a:ext cx="1920240" cy="310896"/>
          </a:xfrm>
          <a:prstGeom prst="rect">
            <a:avLst/>
          </a:prstGeom>
          <a:noFill/>
          <a:ln/>
        </p:spPr>
        <p:txBody>
          <a:bodyPr wrap="square" lIns="0" tIns="0" rIns="0" bIns="0" rtlCol="0" anchor="ctr">
            <a:normAutofit/>
          </a:bodyPr>
          <a:lstStyle/>
          <a:p>
            <a:pPr algn="l" indent="0" marL="0">
              <a:buNone/>
            </a:pPr>
            <a:r>
              <a:rPr lang="en-US" sz="1250" b="1" dirty="0">
                <a:solidFill>
                  <a:srgbClr val="34422D"/>
                </a:solidFill>
                <a:latin typeface="Inter" pitchFamily="34" charset="0"/>
                <a:ea typeface="Inter" pitchFamily="34" charset="-122"/>
                <a:cs typeface="Inter" pitchFamily="34" charset="-120"/>
              </a:rPr>
              <a:t>YAYIN &amp; AÇILIŞ</a:t>
            </a:r>
            <a:endParaRPr lang="en-US" sz="1250" dirty="0"/>
          </a:p>
        </p:txBody>
      </p:sp>
      <p:sp>
        <p:nvSpPr>
          <p:cNvPr id="21" name="Text 19"/>
          <p:cNvSpPr/>
          <p:nvPr/>
        </p:nvSpPr>
        <p:spPr>
          <a:xfrm>
            <a:off x="6300216" y="3602736"/>
            <a:ext cx="1938528" cy="749808"/>
          </a:xfrm>
          <a:prstGeom prst="rect">
            <a:avLst/>
          </a:prstGeom>
          <a:noFill/>
          <a:ln/>
        </p:spPr>
        <p:txBody>
          <a:bodyPr wrap="square" lIns="0" tIns="0" rIns="0" bIns="0" rtlCol="0" anchor="ctr">
            <a:normAutofit/>
          </a:bodyPr>
          <a:lstStyle/>
          <a:p>
            <a:pPr algn="l" indent="0" marL="0">
              <a:buNone/>
            </a:pPr>
            <a:r>
              <a:rPr lang="en-US" sz="1000" dirty="0">
                <a:solidFill>
                  <a:srgbClr val="6B675F"/>
                </a:solidFill>
                <a:latin typeface="Inter" pitchFamily="34" charset="0"/>
                <a:ea typeface="Inter" pitchFamily="34" charset="-122"/>
                <a:cs typeface="Inter" pitchFamily="34" charset="-120"/>
              </a:rPr>
              <a:t>Resmi Instagram</a:t>
            </a:r>
            <a:endParaRPr lang="en-US" sz="1000" dirty="0"/>
          </a:p>
          <a:p>
            <a:pPr algn="l" indent="0" marL="0">
              <a:buNone/>
            </a:pPr>
            <a:r>
              <a:rPr lang="en-US" sz="1000" dirty="0">
                <a:solidFill>
                  <a:srgbClr val="6B675F"/>
                </a:solidFill>
                <a:latin typeface="Inter" pitchFamily="34" charset="0"/>
                <a:ea typeface="Inter" pitchFamily="34" charset="-122"/>
                <a:cs typeface="Inter" pitchFamily="34" charset="-120"/>
              </a:rPr>
              <a:t>Web domain</a:t>
            </a:r>
            <a:endParaRPr lang="en-US" sz="1000" dirty="0"/>
          </a:p>
          <a:p>
            <a:pPr algn="l" indent="0" marL="0">
              <a:buNone/>
            </a:pPr>
            <a:r>
              <a:rPr lang="en-US" sz="1000" dirty="0">
                <a:solidFill>
                  <a:srgbClr val="6B675F"/>
                </a:solidFill>
                <a:latin typeface="Inter" pitchFamily="34" charset="0"/>
                <a:ea typeface="Inter" pitchFamily="34" charset="-122"/>
                <a:cs typeface="Inter" pitchFamily="34" charset="-120"/>
              </a:rPr>
              <a:t>Canlı yayın</a:t>
            </a:r>
            <a:endParaRPr lang="en-US" sz="1000" dirty="0"/>
          </a:p>
        </p:txBody>
      </p:sp>
      <p:sp>
        <p:nvSpPr>
          <p:cNvPr id="22" name="Text 20"/>
          <p:cNvSpPr/>
          <p:nvPr/>
        </p:nvSpPr>
        <p:spPr>
          <a:xfrm>
            <a:off x="8631936" y="3264408"/>
            <a:ext cx="274320" cy="365760"/>
          </a:xfrm>
          <a:prstGeom prst="rect">
            <a:avLst/>
          </a:prstGeom>
          <a:noFill/>
          <a:ln/>
        </p:spPr>
        <p:txBody>
          <a:bodyPr wrap="square" lIns="0" tIns="0" rIns="0" bIns="0" rtlCol="0" anchor="ctr">
            <a:normAutofit/>
          </a:bodyPr>
          <a:lstStyle/>
          <a:p>
            <a:pPr algn="ctr" indent="0" marL="0">
              <a:buNone/>
            </a:pPr>
            <a:r>
              <a:rPr lang="en-US" sz="1800" b="1" dirty="0">
                <a:solidFill>
                  <a:srgbClr val="68734B"/>
                </a:solidFill>
                <a:latin typeface="Inter" pitchFamily="34" charset="0"/>
                <a:ea typeface="Inter" pitchFamily="34" charset="-122"/>
                <a:cs typeface="Inter" pitchFamily="34" charset="-120"/>
              </a:rPr>
              <a:t>→</a:t>
            </a:r>
            <a:endParaRPr lang="en-US" sz="1800" dirty="0"/>
          </a:p>
        </p:txBody>
      </p:sp>
      <p:sp>
        <p:nvSpPr>
          <p:cNvPr id="23" name="Shape 21"/>
          <p:cNvSpPr/>
          <p:nvPr/>
        </p:nvSpPr>
        <p:spPr>
          <a:xfrm>
            <a:off x="8878824" y="2395728"/>
            <a:ext cx="2450592" cy="2212848"/>
          </a:xfrm>
          <a:prstGeom prst="roundRect">
            <a:avLst>
              <a:gd name="adj" fmla="val 10744"/>
            </a:avLst>
          </a:prstGeom>
          <a:solidFill>
            <a:srgbClr val="34422D"/>
          </a:solidFill>
          <a:ln w="12700">
            <a:solidFill>
              <a:srgbClr val="E3DEC3"/>
            </a:solidFill>
            <a:prstDash val="solid"/>
          </a:ln>
        </p:spPr>
      </p:sp>
      <p:sp>
        <p:nvSpPr>
          <p:cNvPr id="24" name="Shape 22"/>
          <p:cNvSpPr/>
          <p:nvPr/>
        </p:nvSpPr>
        <p:spPr>
          <a:xfrm>
            <a:off x="9061704" y="2651760"/>
            <a:ext cx="438912" cy="256032"/>
          </a:xfrm>
          <a:prstGeom prst="roundRect">
            <a:avLst>
              <a:gd name="adj" fmla="val 50000"/>
            </a:avLst>
          </a:prstGeom>
          <a:solidFill>
            <a:srgbClr val="D8B98C"/>
          </a:solidFill>
          <a:ln w="12700">
            <a:solidFill>
              <a:srgbClr val="D8B98C">
                <a:alpha val="0"/>
              </a:srgbClr>
            </a:solidFill>
            <a:prstDash val="solid"/>
          </a:ln>
        </p:spPr>
      </p:sp>
      <p:sp>
        <p:nvSpPr>
          <p:cNvPr id="25" name="Text 23"/>
          <p:cNvSpPr/>
          <p:nvPr/>
        </p:nvSpPr>
        <p:spPr>
          <a:xfrm>
            <a:off x="9144000" y="2670048"/>
            <a:ext cx="274320" cy="219456"/>
          </a:xfrm>
          <a:prstGeom prst="rect">
            <a:avLst/>
          </a:prstGeom>
          <a:noFill/>
          <a:ln/>
        </p:spPr>
        <p:txBody>
          <a:bodyPr wrap="square" lIns="0" tIns="0" rIns="0" bIns="0" rtlCol="0" anchor="ctr">
            <a:normAutofit/>
          </a:bodyPr>
          <a:lstStyle/>
          <a:p>
            <a:pPr algn="ctr" indent="0" marL="0">
              <a:buNone/>
            </a:pPr>
            <a:r>
              <a:rPr lang="en-US" sz="880" b="1" dirty="0">
                <a:solidFill>
                  <a:srgbClr val="34422D"/>
                </a:solidFill>
                <a:latin typeface="Inter" pitchFamily="34" charset="0"/>
                <a:ea typeface="Inter" pitchFamily="34" charset="-122"/>
                <a:cs typeface="Inter" pitchFamily="34" charset="-120"/>
              </a:rPr>
              <a:t>4</a:t>
            </a:r>
            <a:endParaRPr lang="en-US" sz="880" dirty="0"/>
          </a:p>
        </p:txBody>
      </p:sp>
      <p:sp>
        <p:nvSpPr>
          <p:cNvPr id="26" name="Text 24"/>
          <p:cNvSpPr/>
          <p:nvPr/>
        </p:nvSpPr>
        <p:spPr>
          <a:xfrm>
            <a:off x="9061704" y="3090672"/>
            <a:ext cx="1920240" cy="310896"/>
          </a:xfrm>
          <a:prstGeom prst="rect">
            <a:avLst/>
          </a:prstGeom>
          <a:noFill/>
          <a:ln/>
        </p:spPr>
        <p:txBody>
          <a:bodyPr wrap="square" lIns="0" tIns="0" rIns="0" bIns="0" rtlCol="0" anchor="ctr">
            <a:normAutofit/>
          </a:bodyPr>
          <a:lstStyle/>
          <a:p>
            <a:pPr algn="l" indent="0" marL="0">
              <a:buNone/>
            </a:pPr>
            <a:r>
              <a:rPr lang="en-US" sz="1250" b="1" dirty="0">
                <a:solidFill>
                  <a:srgbClr val="F4F0E6"/>
                </a:solidFill>
                <a:latin typeface="Inter" pitchFamily="34" charset="0"/>
                <a:ea typeface="Inter" pitchFamily="34" charset="-122"/>
                <a:cs typeface="Inter" pitchFamily="34" charset="-120"/>
              </a:rPr>
              <a:t>CANLI AI</a:t>
            </a:r>
            <a:endParaRPr lang="en-US" sz="1250" dirty="0"/>
          </a:p>
        </p:txBody>
      </p:sp>
      <p:sp>
        <p:nvSpPr>
          <p:cNvPr id="27" name="Text 25"/>
          <p:cNvSpPr/>
          <p:nvPr/>
        </p:nvSpPr>
        <p:spPr>
          <a:xfrm>
            <a:off x="9061704" y="3602736"/>
            <a:ext cx="1938528" cy="749808"/>
          </a:xfrm>
          <a:prstGeom prst="rect">
            <a:avLst/>
          </a:prstGeom>
          <a:noFill/>
          <a:ln/>
        </p:spPr>
        <p:txBody>
          <a:bodyPr wrap="square" lIns="0" tIns="0" rIns="0" bIns="0" rtlCol="0" anchor="ctr">
            <a:normAutofit/>
          </a:bodyPr>
          <a:lstStyle/>
          <a:p>
            <a:pPr algn="l" indent="0" marL="0">
              <a:buNone/>
            </a:pPr>
            <a:r>
              <a:rPr lang="en-US" sz="1000" dirty="0">
                <a:solidFill>
                  <a:srgbClr val="DDE4D8"/>
                </a:solidFill>
                <a:latin typeface="Inter" pitchFamily="34" charset="0"/>
                <a:ea typeface="Inter" pitchFamily="34" charset="-122"/>
                <a:cs typeface="Inter" pitchFamily="34" charset="-120"/>
              </a:rPr>
              <a:t>Doğrulanmış KB</a:t>
            </a:r>
            <a:endParaRPr lang="en-US" sz="1000" dirty="0"/>
          </a:p>
          <a:p>
            <a:pPr algn="l" indent="0" marL="0">
              <a:buNone/>
            </a:pPr>
            <a:r>
              <a:rPr lang="en-US" sz="1000" dirty="0">
                <a:solidFill>
                  <a:srgbClr val="DDE4D8"/>
                </a:solidFill>
                <a:latin typeface="Inter" pitchFamily="34" charset="0"/>
                <a:ea typeface="Inter" pitchFamily="34" charset="-122"/>
                <a:cs typeface="Inter" pitchFamily="34" charset="-120"/>
              </a:rPr>
              <a:t>Model entegrasyonu</a:t>
            </a:r>
            <a:endParaRPr lang="en-US" sz="1000" dirty="0"/>
          </a:p>
          <a:p>
            <a:pPr algn="l" indent="0" marL="0">
              <a:buNone/>
            </a:pPr>
            <a:r>
              <a:rPr lang="en-US" sz="1000" dirty="0">
                <a:solidFill>
                  <a:srgbClr val="DDE4D8"/>
                </a:solidFill>
                <a:latin typeface="Inter" pitchFamily="34" charset="0"/>
                <a:ea typeface="Inter" pitchFamily="34" charset="-122"/>
                <a:cs typeface="Inter" pitchFamily="34" charset="-120"/>
              </a:rPr>
              <a:t>Ölçüm / guardrail</a:t>
            </a:r>
            <a:endParaRPr lang="en-US" sz="1000" dirty="0"/>
          </a:p>
        </p:txBody>
      </p:sp>
      <p:sp>
        <p:nvSpPr>
          <p:cNvPr id="28" name="Shape 26"/>
          <p:cNvSpPr/>
          <p:nvPr/>
        </p:nvSpPr>
        <p:spPr>
          <a:xfrm>
            <a:off x="594360" y="4956048"/>
            <a:ext cx="10954512" cy="1005840"/>
          </a:xfrm>
          <a:prstGeom prst="roundRect">
            <a:avLst>
              <a:gd name="adj" fmla="val 20000"/>
            </a:avLst>
          </a:prstGeom>
          <a:solidFill>
            <a:srgbClr val="FAF7EF"/>
          </a:solidFill>
          <a:ln w="12700">
            <a:solidFill>
              <a:srgbClr val="E3DEC3"/>
            </a:solidFill>
            <a:prstDash val="solid"/>
          </a:ln>
        </p:spPr>
      </p:sp>
      <p:sp>
        <p:nvSpPr>
          <p:cNvPr id="29" name="Text 27"/>
          <p:cNvSpPr/>
          <p:nvPr/>
        </p:nvSpPr>
        <p:spPr>
          <a:xfrm>
            <a:off x="841248" y="5230368"/>
            <a:ext cx="1920240" cy="256032"/>
          </a:xfrm>
          <a:prstGeom prst="rect">
            <a:avLst/>
          </a:prstGeom>
          <a:noFill/>
          <a:ln/>
        </p:spPr>
        <p:txBody>
          <a:bodyPr wrap="square" lIns="0" tIns="0" rIns="0" bIns="0" rtlCol="0" anchor="ctr">
            <a:normAutofit/>
          </a:bodyPr>
          <a:lstStyle/>
          <a:p>
            <a:pPr algn="l" indent="0" marL="0">
              <a:buNone/>
            </a:pPr>
            <a:r>
              <a:rPr lang="en-US" sz="1000" b="1" spc="70" kern="0" dirty="0">
                <a:solidFill>
                  <a:srgbClr val="68734B"/>
                </a:solidFill>
                <a:latin typeface="Inter" pitchFamily="34" charset="0"/>
                <a:ea typeface="Inter" pitchFamily="34" charset="-122"/>
                <a:cs typeface="Inter" pitchFamily="34" charset="-120"/>
              </a:rPr>
              <a:t>TESLİM EDİLEN PAKET</a:t>
            </a:r>
            <a:endParaRPr lang="en-US" sz="1000" dirty="0"/>
          </a:p>
        </p:txBody>
      </p:sp>
      <p:sp>
        <p:nvSpPr>
          <p:cNvPr id="30" name="Text 28"/>
          <p:cNvSpPr/>
          <p:nvPr/>
        </p:nvSpPr>
        <p:spPr>
          <a:xfrm>
            <a:off x="2834640" y="5120640"/>
            <a:ext cx="1051560" cy="292608"/>
          </a:xfrm>
          <a:prstGeom prst="rect">
            <a:avLst/>
          </a:prstGeom>
          <a:noFill/>
          <a:ln/>
        </p:spPr>
        <p:txBody>
          <a:bodyPr wrap="square" lIns="0" tIns="0" rIns="0" bIns="0" rtlCol="0" anchor="ctr">
            <a:normAutofit/>
          </a:bodyPr>
          <a:lstStyle/>
          <a:p>
            <a:pPr algn="ctr" indent="0" marL="0">
              <a:buNone/>
            </a:pPr>
            <a:r>
              <a:rPr lang="en-US" sz="1600" b="1" dirty="0">
                <a:solidFill>
                  <a:srgbClr val="34422D"/>
                </a:solidFill>
                <a:latin typeface="Inter" pitchFamily="34" charset="0"/>
                <a:ea typeface="Inter" pitchFamily="34" charset="-122"/>
                <a:cs typeface="Inter" pitchFamily="34" charset="-120"/>
              </a:rPr>
              <a:t>8 Slayt</a:t>
            </a:r>
            <a:endParaRPr lang="en-US" sz="1600" dirty="0"/>
          </a:p>
        </p:txBody>
      </p:sp>
      <p:sp>
        <p:nvSpPr>
          <p:cNvPr id="31" name="Text 29"/>
          <p:cNvSpPr/>
          <p:nvPr/>
        </p:nvSpPr>
        <p:spPr>
          <a:xfrm>
            <a:off x="2834640" y="5486400"/>
            <a:ext cx="1051560" cy="219456"/>
          </a:xfrm>
          <a:prstGeom prst="rect">
            <a:avLst/>
          </a:prstGeom>
          <a:noFill/>
          <a:ln/>
        </p:spPr>
        <p:txBody>
          <a:bodyPr wrap="square" lIns="0" tIns="0" rIns="0" bIns="0" rtlCol="0" anchor="ctr">
            <a:normAutofit/>
          </a:bodyPr>
          <a:lstStyle/>
          <a:p>
            <a:pPr algn="ctr" indent="0" marL="0">
              <a:buNone/>
            </a:pPr>
            <a:r>
              <a:rPr lang="en-US" sz="900" dirty="0">
                <a:solidFill>
                  <a:srgbClr val="6B675F"/>
                </a:solidFill>
                <a:latin typeface="Inter" pitchFamily="34" charset="0"/>
                <a:ea typeface="Inter" pitchFamily="34" charset="-122"/>
                <a:cs typeface="Inter" pitchFamily="34" charset="-120"/>
              </a:rPr>
              <a:t>Sunum</a:t>
            </a:r>
            <a:endParaRPr lang="en-US" sz="900" dirty="0"/>
          </a:p>
        </p:txBody>
      </p:sp>
      <p:sp>
        <p:nvSpPr>
          <p:cNvPr id="32" name="Text 30"/>
          <p:cNvSpPr/>
          <p:nvPr/>
        </p:nvSpPr>
        <p:spPr>
          <a:xfrm>
            <a:off x="4517136" y="5120640"/>
            <a:ext cx="1051560" cy="292608"/>
          </a:xfrm>
          <a:prstGeom prst="rect">
            <a:avLst/>
          </a:prstGeom>
          <a:noFill/>
          <a:ln/>
        </p:spPr>
        <p:txBody>
          <a:bodyPr wrap="square" lIns="0" tIns="0" rIns="0" bIns="0" rtlCol="0" anchor="ctr">
            <a:normAutofit/>
          </a:bodyPr>
          <a:lstStyle/>
          <a:p>
            <a:pPr algn="ctr" indent="0" marL="0">
              <a:buNone/>
            </a:pPr>
            <a:r>
              <a:rPr lang="en-US" sz="1600" b="1" dirty="0">
                <a:solidFill>
                  <a:srgbClr val="34422D"/>
                </a:solidFill>
                <a:latin typeface="Inter" pitchFamily="34" charset="0"/>
                <a:ea typeface="Inter" pitchFamily="34" charset="-122"/>
                <a:cs typeface="Inter" pitchFamily="34" charset="-120"/>
              </a:rPr>
              <a:t>6 + 3</a:t>
            </a:r>
            <a:endParaRPr lang="en-US" sz="1600" dirty="0"/>
          </a:p>
        </p:txBody>
      </p:sp>
      <p:sp>
        <p:nvSpPr>
          <p:cNvPr id="33" name="Text 31"/>
          <p:cNvSpPr/>
          <p:nvPr/>
        </p:nvSpPr>
        <p:spPr>
          <a:xfrm>
            <a:off x="4517136" y="5486400"/>
            <a:ext cx="1051560" cy="219456"/>
          </a:xfrm>
          <a:prstGeom prst="rect">
            <a:avLst/>
          </a:prstGeom>
          <a:noFill/>
          <a:ln/>
        </p:spPr>
        <p:txBody>
          <a:bodyPr wrap="square" lIns="0" tIns="0" rIns="0" bIns="0" rtlCol="0" anchor="ctr">
            <a:normAutofit/>
          </a:bodyPr>
          <a:lstStyle/>
          <a:p>
            <a:pPr algn="ctr" indent="0" marL="0">
              <a:buNone/>
            </a:pPr>
            <a:r>
              <a:rPr lang="en-US" sz="900" dirty="0">
                <a:solidFill>
                  <a:srgbClr val="6B675F"/>
                </a:solidFill>
                <a:latin typeface="Inter" pitchFamily="34" charset="0"/>
                <a:ea typeface="Inter" pitchFamily="34" charset="-122"/>
                <a:cs typeface="Inter" pitchFamily="34" charset="-120"/>
              </a:rPr>
              <a:t>Post + Story</a:t>
            </a:r>
            <a:endParaRPr lang="en-US" sz="900" dirty="0"/>
          </a:p>
        </p:txBody>
      </p:sp>
      <p:sp>
        <p:nvSpPr>
          <p:cNvPr id="34" name="Text 32"/>
          <p:cNvSpPr/>
          <p:nvPr/>
        </p:nvSpPr>
        <p:spPr>
          <a:xfrm>
            <a:off x="6199632" y="5120640"/>
            <a:ext cx="1051560" cy="292608"/>
          </a:xfrm>
          <a:prstGeom prst="rect">
            <a:avLst/>
          </a:prstGeom>
          <a:noFill/>
          <a:ln/>
        </p:spPr>
        <p:txBody>
          <a:bodyPr wrap="square" lIns="0" tIns="0" rIns="0" bIns="0" rtlCol="0" anchor="ctr">
            <a:normAutofit/>
          </a:bodyPr>
          <a:lstStyle/>
          <a:p>
            <a:pPr algn="ctr" indent="0" marL="0">
              <a:buNone/>
            </a:pPr>
            <a:r>
              <a:rPr lang="en-US" sz="1600" b="1" dirty="0">
                <a:solidFill>
                  <a:srgbClr val="34422D"/>
                </a:solidFill>
                <a:latin typeface="Inter" pitchFamily="34" charset="0"/>
                <a:ea typeface="Inter" pitchFamily="34" charset="-122"/>
                <a:cs typeface="Inter" pitchFamily="34" charset="-120"/>
              </a:rPr>
              <a:t>28 sn</a:t>
            </a:r>
            <a:endParaRPr lang="en-US" sz="1600" dirty="0"/>
          </a:p>
        </p:txBody>
      </p:sp>
      <p:sp>
        <p:nvSpPr>
          <p:cNvPr id="35" name="Text 33"/>
          <p:cNvSpPr/>
          <p:nvPr/>
        </p:nvSpPr>
        <p:spPr>
          <a:xfrm>
            <a:off x="6199632" y="5486400"/>
            <a:ext cx="1051560" cy="219456"/>
          </a:xfrm>
          <a:prstGeom prst="rect">
            <a:avLst/>
          </a:prstGeom>
          <a:noFill/>
          <a:ln/>
        </p:spPr>
        <p:txBody>
          <a:bodyPr wrap="square" lIns="0" tIns="0" rIns="0" bIns="0" rtlCol="0" anchor="ctr">
            <a:normAutofit/>
          </a:bodyPr>
          <a:lstStyle/>
          <a:p>
            <a:pPr algn="ctr" indent="0" marL="0">
              <a:buNone/>
            </a:pPr>
            <a:r>
              <a:rPr lang="en-US" sz="900" dirty="0">
                <a:solidFill>
                  <a:srgbClr val="6B675F"/>
                </a:solidFill>
                <a:latin typeface="Inter" pitchFamily="34" charset="0"/>
                <a:ea typeface="Inter" pitchFamily="34" charset="-122"/>
                <a:cs typeface="Inter" pitchFamily="34" charset="-120"/>
              </a:rPr>
              <a:t>Reels</a:t>
            </a:r>
            <a:endParaRPr lang="en-US" sz="900" dirty="0"/>
          </a:p>
        </p:txBody>
      </p:sp>
      <p:sp>
        <p:nvSpPr>
          <p:cNvPr id="36" name="Text 34"/>
          <p:cNvSpPr/>
          <p:nvPr/>
        </p:nvSpPr>
        <p:spPr>
          <a:xfrm>
            <a:off x="7882128" y="5120640"/>
            <a:ext cx="1051560" cy="292608"/>
          </a:xfrm>
          <a:prstGeom prst="rect">
            <a:avLst/>
          </a:prstGeom>
          <a:noFill/>
          <a:ln/>
        </p:spPr>
        <p:txBody>
          <a:bodyPr wrap="square" lIns="0" tIns="0" rIns="0" bIns="0" rtlCol="0" anchor="ctr">
            <a:normAutofit/>
          </a:bodyPr>
          <a:lstStyle/>
          <a:p>
            <a:pPr algn="ctr" indent="0" marL="0">
              <a:buNone/>
            </a:pPr>
            <a:r>
              <a:rPr lang="en-US" sz="1600" b="1" dirty="0">
                <a:solidFill>
                  <a:srgbClr val="34422D"/>
                </a:solidFill>
                <a:latin typeface="Inter" pitchFamily="34" charset="0"/>
                <a:ea typeface="Inter" pitchFamily="34" charset="-122"/>
                <a:cs typeface="Inter" pitchFamily="34" charset="-120"/>
              </a:rPr>
              <a:t>Canlı</a:t>
            </a:r>
            <a:endParaRPr lang="en-US" sz="1600" dirty="0"/>
          </a:p>
        </p:txBody>
      </p:sp>
      <p:sp>
        <p:nvSpPr>
          <p:cNvPr id="37" name="Text 35"/>
          <p:cNvSpPr/>
          <p:nvPr/>
        </p:nvSpPr>
        <p:spPr>
          <a:xfrm>
            <a:off x="7882128" y="5486400"/>
            <a:ext cx="1051560" cy="219456"/>
          </a:xfrm>
          <a:prstGeom prst="rect">
            <a:avLst/>
          </a:prstGeom>
          <a:noFill/>
          <a:ln/>
        </p:spPr>
        <p:txBody>
          <a:bodyPr wrap="square" lIns="0" tIns="0" rIns="0" bIns="0" rtlCol="0" anchor="ctr">
            <a:normAutofit/>
          </a:bodyPr>
          <a:lstStyle/>
          <a:p>
            <a:pPr algn="ctr" indent="0" marL="0">
              <a:buNone/>
            </a:pPr>
            <a:r>
              <a:rPr lang="en-US" sz="900" dirty="0">
                <a:solidFill>
                  <a:srgbClr val="6B675F"/>
                </a:solidFill>
                <a:latin typeface="Inter" pitchFamily="34" charset="0"/>
                <a:ea typeface="Inter" pitchFamily="34" charset="-122"/>
                <a:cs typeface="Inter" pitchFamily="34" charset="-120"/>
              </a:rPr>
              <a:t>Web Demo</a:t>
            </a:r>
            <a:endParaRPr lang="en-US" sz="900" dirty="0"/>
          </a:p>
        </p:txBody>
      </p:sp>
      <p:sp>
        <p:nvSpPr>
          <p:cNvPr id="38" name="Text 36"/>
          <p:cNvSpPr/>
          <p:nvPr/>
        </p:nvSpPr>
        <p:spPr>
          <a:xfrm>
            <a:off x="9564624" y="5120640"/>
            <a:ext cx="1051560" cy="292608"/>
          </a:xfrm>
          <a:prstGeom prst="rect">
            <a:avLst/>
          </a:prstGeom>
          <a:noFill/>
          <a:ln/>
        </p:spPr>
        <p:txBody>
          <a:bodyPr wrap="square" lIns="0" tIns="0" rIns="0" bIns="0" rtlCol="0" anchor="ctr">
            <a:normAutofit/>
          </a:bodyPr>
          <a:lstStyle/>
          <a:p>
            <a:pPr algn="ctr" indent="0" marL="0">
              <a:buNone/>
            </a:pPr>
            <a:r>
              <a:rPr lang="en-US" sz="1600" b="1" dirty="0">
                <a:solidFill>
                  <a:srgbClr val="34422D"/>
                </a:solidFill>
                <a:latin typeface="Inter" pitchFamily="34" charset="0"/>
                <a:ea typeface="Inter" pitchFamily="34" charset="-122"/>
                <a:cs typeface="Inter" pitchFamily="34" charset="-120"/>
              </a:rPr>
              <a:t>Demo</a:t>
            </a:r>
            <a:endParaRPr lang="en-US" sz="1600" dirty="0"/>
          </a:p>
        </p:txBody>
      </p:sp>
      <p:sp>
        <p:nvSpPr>
          <p:cNvPr id="39" name="Text 37"/>
          <p:cNvSpPr/>
          <p:nvPr/>
        </p:nvSpPr>
        <p:spPr>
          <a:xfrm>
            <a:off x="9564624" y="5486400"/>
            <a:ext cx="1051560" cy="219456"/>
          </a:xfrm>
          <a:prstGeom prst="rect">
            <a:avLst/>
          </a:prstGeom>
          <a:noFill/>
          <a:ln/>
        </p:spPr>
        <p:txBody>
          <a:bodyPr wrap="square" lIns="0" tIns="0" rIns="0" bIns="0" rtlCol="0" anchor="ctr">
            <a:normAutofit/>
          </a:bodyPr>
          <a:lstStyle/>
          <a:p>
            <a:pPr algn="ctr" indent="0" marL="0">
              <a:buNone/>
            </a:pPr>
            <a:r>
              <a:rPr lang="en-US" sz="900" dirty="0">
                <a:solidFill>
                  <a:srgbClr val="6B675F"/>
                </a:solidFill>
                <a:latin typeface="Inter" pitchFamily="34" charset="0"/>
                <a:ea typeface="Inter" pitchFamily="34" charset="-122"/>
                <a:cs typeface="Inter" pitchFamily="34" charset="-120"/>
              </a:rPr>
              <a:t>AI Barista</a:t>
            </a:r>
            <a:endParaRPr lang="en-US" sz="900" dirty="0"/>
          </a:p>
        </p:txBody>
      </p:sp>
      <p:sp>
        <p:nvSpPr>
          <p:cNvPr id="40" name="Text 38"/>
          <p:cNvSpPr/>
          <p:nvPr/>
        </p:nvSpPr>
        <p:spPr>
          <a:xfrm>
            <a:off x="594360" y="6144768"/>
            <a:ext cx="9784080" cy="347472"/>
          </a:xfrm>
          <a:prstGeom prst="rect">
            <a:avLst/>
          </a:prstGeom>
          <a:noFill/>
          <a:ln/>
        </p:spPr>
        <p:txBody>
          <a:bodyPr wrap="square" lIns="0" tIns="0" rIns="0" bIns="0" rtlCol="0" anchor="ctr">
            <a:normAutofit/>
          </a:bodyPr>
          <a:lstStyle/>
          <a:p>
            <a:pPr algn="l" indent="0" marL="0">
              <a:buNone/>
            </a:pPr>
            <a:r>
              <a:rPr lang="en-US" sz="1400" b="1" dirty="0">
                <a:solidFill>
                  <a:srgbClr val="34422D"/>
                </a:solidFill>
                <a:latin typeface="Inter" pitchFamily="34" charset="0"/>
                <a:ea typeface="Inter" pitchFamily="34" charset="-122"/>
                <a:cs typeface="Inter" pitchFamily="34" charset="-120"/>
              </a:rPr>
              <a:t>Son mesaj: B+ için yalnızca fikir değil, görünür + denenebilir bir dijital sistem.</a:t>
            </a:r>
            <a:endParaRPr lang="en-US" sz="140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8D8A80"/>
                </a:solidFill>
                <a:latin typeface="Inter"/>
                <a:ea typeface="Inter"/>
                <a:cs typeface="Inter"/>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B+ Wellness Café</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 Wellness Café - Dijital Deneyim ve Marka Lansmanı</dc:title>
  <dc:subject>B+ Wellness Café - Dijital Deneyim ve Marka Lansmanı</dc:subject>
  <dc:creator>OpenAI</dc:creator>
  <cp:lastModifiedBy>OpenAI</cp:lastModifiedBy>
  <cp:revision>1</cp:revision>
  <dcterms:created xsi:type="dcterms:W3CDTF">2026-10-04T18:41:25Z</dcterms:created>
  <dcterms:modified xsi:type="dcterms:W3CDTF">2026-10-04T18:41:25Z</dcterms:modified>
</cp:coreProperties>
</file>